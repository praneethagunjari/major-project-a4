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 Id="rId4" Type="http://schemas.openxmlformats.org/officeDocument/2006/relationships/custom-properties" Target="docProps/custom.xml" /></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95" r:id="rId1"/>
  </p:sldMasterIdLst>
  <p:notesMasterIdLst>
    <p:notesMasterId r:id="rId32"/>
  </p:notesMasterIdLst>
  <p:sldIdLst>
    <p:sldId id="306" r:id="rId2"/>
    <p:sldId id="257" r:id="rId3"/>
    <p:sldId id="258" r:id="rId4"/>
    <p:sldId id="277" r:id="rId5"/>
    <p:sldId id="262" r:id="rId6"/>
    <p:sldId id="263" r:id="rId7"/>
    <p:sldId id="264" r:id="rId8"/>
    <p:sldId id="296" r:id="rId9"/>
    <p:sldId id="282" r:id="rId10"/>
    <p:sldId id="273" r:id="rId11"/>
    <p:sldId id="274" r:id="rId12"/>
    <p:sldId id="275" r:id="rId13"/>
    <p:sldId id="276" r:id="rId14"/>
    <p:sldId id="278" r:id="rId15"/>
    <p:sldId id="279" r:id="rId16"/>
    <p:sldId id="280" r:id="rId17"/>
    <p:sldId id="281" r:id="rId18"/>
    <p:sldId id="307" r:id="rId19"/>
    <p:sldId id="317" r:id="rId20"/>
    <p:sldId id="318" r:id="rId21"/>
    <p:sldId id="319" r:id="rId22"/>
    <p:sldId id="320" r:id="rId23"/>
    <p:sldId id="321" r:id="rId24"/>
    <p:sldId id="322" r:id="rId25"/>
    <p:sldId id="323" r:id="rId26"/>
    <p:sldId id="325" r:id="rId27"/>
    <p:sldId id="326" r:id="rId28"/>
    <p:sldId id="327" r:id="rId29"/>
    <p:sldId id="329" r:id="rId30"/>
    <p:sldId id="331" r:id="rId31"/>
  </p:sldIdLst>
  <p:sldSz cx="10058400" cy="7772400"/>
  <p:notesSz cx="10058400" cy="7772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howGuides="1">
      <p:cViewPr varScale="1">
        <p:scale>
          <a:sx n="74" d="100"/>
          <a:sy n="74" d="100"/>
        </p:scale>
        <p:origin x="1502" y="77"/>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slide" Target="slides/slide25.xml" /><Relationship Id="rId3" Type="http://schemas.openxmlformats.org/officeDocument/2006/relationships/slide" Target="slides/slide2.xml" /><Relationship Id="rId21" Type="http://schemas.openxmlformats.org/officeDocument/2006/relationships/slide" Target="slides/slide20.xml" /><Relationship Id="rId34" Type="http://schemas.openxmlformats.org/officeDocument/2006/relationships/viewProps" Target="viewProps.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openxmlformats.org/officeDocument/2006/relationships/presProps" Target="presProps.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slide" Target="slides/slide28.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32" Type="http://schemas.openxmlformats.org/officeDocument/2006/relationships/notesMaster" Target="notesMasters/notesMaster1.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slide" Target="slides/slide27.xml" /><Relationship Id="rId36" Type="http://schemas.openxmlformats.org/officeDocument/2006/relationships/tableStyles" Target="tableStyles.xml"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slide" Target="slides/slide30.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slide" Target="slides/slide29.xml" /><Relationship Id="rId35"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59275" cy="3889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697538" y="0"/>
            <a:ext cx="4359275" cy="388938"/>
          </a:xfrm>
          <a:prstGeom prst="rect">
            <a:avLst/>
          </a:prstGeom>
        </p:spPr>
        <p:txBody>
          <a:bodyPr vert="horz" lIns="91440" tIns="45720" rIns="91440" bIns="45720" rtlCol="0"/>
          <a:lstStyle>
            <a:lvl1pPr algn="r">
              <a:defRPr sz="1200"/>
            </a:lvl1pPr>
          </a:lstStyle>
          <a:p>
            <a:fld id="{D6B5CA92-F101-41AD-A026-7984B938F393}" type="datetimeFigureOut">
              <a:rPr lang="en-US" smtClean="0"/>
              <a:t>3/22/2026</a:t>
            </a:fld>
            <a:endParaRPr lang="en-US"/>
          </a:p>
        </p:txBody>
      </p:sp>
      <p:sp>
        <p:nvSpPr>
          <p:cNvPr id="4" name="Slide Image Placeholder 3"/>
          <p:cNvSpPr>
            <a:spLocks noGrp="1" noRot="1" noChangeAspect="1"/>
          </p:cNvSpPr>
          <p:nvPr>
            <p:ph type="sldImg" idx="2"/>
          </p:nvPr>
        </p:nvSpPr>
        <p:spPr>
          <a:xfrm>
            <a:off x="3332163" y="971550"/>
            <a:ext cx="3394075" cy="26225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006475" y="3740150"/>
            <a:ext cx="8045450" cy="30607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7383463"/>
            <a:ext cx="4359275" cy="38893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697538" y="7383463"/>
            <a:ext cx="4359275" cy="388937"/>
          </a:xfrm>
          <a:prstGeom prst="rect">
            <a:avLst/>
          </a:prstGeom>
        </p:spPr>
        <p:txBody>
          <a:bodyPr vert="horz" lIns="91440" tIns="45720" rIns="91440" bIns="45720" rtlCol="0" anchor="b"/>
          <a:lstStyle>
            <a:lvl1pPr algn="r">
              <a:defRPr sz="1200"/>
            </a:lvl1pPr>
          </a:lstStyle>
          <a:p>
            <a:fld id="{E48C7ED0-A49C-4C6A-AF7F-9A55CDA47C4B}" type="slidenum">
              <a:rPr lang="en-US" smtClean="0"/>
              <a:t>‹#›</a:t>
            </a:fld>
            <a:endParaRPr lang="en-US"/>
          </a:p>
        </p:txBody>
      </p:sp>
    </p:spTree>
    <p:extLst>
      <p:ext uri="{BB962C8B-B14F-4D97-AF65-F5344CB8AC3E}">
        <p14:creationId xmlns:p14="http://schemas.microsoft.com/office/powerpoint/2010/main" val="37343873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48C7ED0-A49C-4C6A-AF7F-9A55CDA47C4B}" type="slidenum">
              <a:rPr lang="en-US" smtClean="0"/>
              <a:t>5</a:t>
            </a:fld>
            <a:endParaRPr lang="en-US"/>
          </a:p>
        </p:txBody>
      </p:sp>
    </p:spTree>
    <p:extLst>
      <p:ext uri="{BB962C8B-B14F-4D97-AF65-F5344CB8AC3E}">
        <p14:creationId xmlns:p14="http://schemas.microsoft.com/office/powerpoint/2010/main" val="26534936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65213" y="766763"/>
            <a:ext cx="4968875" cy="3838575"/>
          </a:xfrm>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9A0EA98-5831-4853-B862-C702E6EB345C}" type="slidenum">
              <a:rPr lang="en-US" smtClean="0"/>
              <a:t>8</a:t>
            </a:fld>
            <a:endParaRPr lang="en-US"/>
          </a:p>
        </p:txBody>
      </p:sp>
    </p:spTree>
    <p:extLst>
      <p:ext uri="{BB962C8B-B14F-4D97-AF65-F5344CB8AC3E}">
        <p14:creationId xmlns:p14="http://schemas.microsoft.com/office/powerpoint/2010/main" val="12709860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01167" y="207263"/>
            <a:ext cx="9656064" cy="7357872"/>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ctrTitle"/>
          </p:nvPr>
        </p:nvSpPr>
        <p:spPr>
          <a:xfrm>
            <a:off x="915734" y="1000026"/>
            <a:ext cx="8222742" cy="3316224"/>
          </a:xfrm>
        </p:spPr>
        <p:txBody>
          <a:bodyPr anchor="b">
            <a:normAutofit/>
          </a:bodyPr>
          <a:lstStyle>
            <a:lvl1pPr algn="ctr">
              <a:lnSpc>
                <a:spcPct val="85000"/>
              </a:lnSpc>
              <a:defRPr sz="6600" b="1" cap="all"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410363" y="4385587"/>
            <a:ext cx="7233485" cy="1573254"/>
          </a:xfrm>
        </p:spPr>
        <p:txBody>
          <a:bodyPr>
            <a:normAutofit/>
          </a:bodyPr>
          <a:lstStyle>
            <a:lvl1pPr marL="0" indent="0" algn="ctr">
              <a:spcBef>
                <a:spcPts val="1100"/>
              </a:spcBef>
              <a:buNone/>
              <a:defRPr sz="1980">
                <a:solidFill>
                  <a:srgbClr val="FFFFFF"/>
                </a:solidFill>
              </a:defRPr>
            </a:lvl1pPr>
            <a:lvl2pPr marL="377190" indent="0" algn="ctr">
              <a:buNone/>
              <a:defRPr sz="1980"/>
            </a:lvl2pPr>
            <a:lvl3pPr marL="754380" indent="0" algn="ctr">
              <a:buNone/>
              <a:defRPr sz="1980"/>
            </a:lvl3pPr>
            <a:lvl4pPr marL="1131570" indent="0" algn="ctr">
              <a:buNone/>
              <a:defRPr sz="1650"/>
            </a:lvl4pPr>
            <a:lvl5pPr marL="1508760" indent="0" algn="ctr">
              <a:buNone/>
              <a:defRPr sz="1650"/>
            </a:lvl5pPr>
            <a:lvl6pPr marL="1885950" indent="0" algn="ctr">
              <a:buNone/>
              <a:defRPr sz="1650"/>
            </a:lvl6pPr>
            <a:lvl7pPr marL="2263140" indent="0" algn="ctr">
              <a:buNone/>
              <a:defRPr sz="1650"/>
            </a:lvl7pPr>
            <a:lvl8pPr marL="2640330" indent="0" algn="ctr">
              <a:buNone/>
              <a:defRPr sz="1650"/>
            </a:lvl8pPr>
            <a:lvl9pPr marL="3017520" indent="0" algn="ctr">
              <a:buNone/>
              <a:defRPr sz="165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rgbClr val="FFFFFF"/>
                </a:solidFill>
              </a:defRPr>
            </a:lvl1pPr>
          </a:lstStyle>
          <a:p>
            <a:fld id="{1D8BD707-D9CF-40AE-B4C6-C98DA3205C09}" type="datetimeFigureOut">
              <a:rPr lang="en-US" smtClean="0"/>
              <a:t>3/22/2026</a:t>
            </a:fld>
            <a:endParaRPr lang="en-US"/>
          </a:p>
        </p:txBody>
      </p:sp>
      <p:sp>
        <p:nvSpPr>
          <p:cNvPr id="5" name="Footer Placeholder 4"/>
          <p:cNvSpPr>
            <a:spLocks noGrp="1"/>
          </p:cNvSpPr>
          <p:nvPr>
            <p:ph type="ftr" sz="quarter" idx="11"/>
          </p:nvPr>
        </p:nvSpPr>
        <p:spPr/>
        <p:txBody>
          <a:bodyPr/>
          <a:lstStyle>
            <a:lvl1pPr>
              <a:defRPr>
                <a:solidFill>
                  <a:srgbClr val="FFFFFF"/>
                </a:solidFill>
              </a:defRPr>
            </a:lvl1pPr>
          </a:lstStyle>
          <a:p>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t>‹#›</a:t>
            </a:fld>
            <a:endParaRPr lang="en-US"/>
          </a:p>
        </p:txBody>
      </p:sp>
      <p:cxnSp>
        <p:nvCxnSpPr>
          <p:cNvPr id="8" name="Straight Connector 7"/>
          <p:cNvCxnSpPr/>
          <p:nvPr/>
        </p:nvCxnSpPr>
        <p:spPr>
          <a:xfrm>
            <a:off x="1632395" y="4231640"/>
            <a:ext cx="678942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668912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spcBef>
                <a:spcPts val="1100"/>
              </a:spcBef>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424149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12800" y="1330052"/>
            <a:ext cx="8222742" cy="3316224"/>
          </a:xfrm>
        </p:spPr>
        <p:txBody>
          <a:bodyPr anchor="b">
            <a:noAutofit/>
          </a:bodyPr>
          <a:lstStyle>
            <a:lvl1pPr algn="ctr">
              <a:lnSpc>
                <a:spcPct val="85000"/>
              </a:lnSpc>
              <a:defRPr sz="6600" b="0" cap="all" baseline="0"/>
            </a:lvl1pPr>
          </a:lstStyle>
          <a:p>
            <a:r>
              <a:rPr lang="en-US"/>
              <a:t>Click to edit Master title style</a:t>
            </a:r>
            <a:endParaRPr lang="en-US" dirty="0"/>
          </a:p>
        </p:txBody>
      </p:sp>
      <p:sp>
        <p:nvSpPr>
          <p:cNvPr id="3" name="Text Placeholder 2"/>
          <p:cNvSpPr>
            <a:spLocks noGrp="1"/>
          </p:cNvSpPr>
          <p:nvPr>
            <p:ph type="body" idx="1"/>
          </p:nvPr>
        </p:nvSpPr>
        <p:spPr>
          <a:xfrm>
            <a:off x="1410691" y="4708456"/>
            <a:ext cx="7234504" cy="1545647"/>
          </a:xfrm>
        </p:spPr>
        <p:txBody>
          <a:bodyPr anchor="t">
            <a:normAutofit/>
          </a:bodyPr>
          <a:lstStyle>
            <a:lvl1pPr marL="0" indent="0" algn="ctr">
              <a:buNone/>
              <a:defRPr sz="1980">
                <a:solidFill>
                  <a:schemeClr val="accent1"/>
                </a:solidFill>
              </a:defRPr>
            </a:lvl1pPr>
            <a:lvl2pPr marL="377190" indent="0">
              <a:buNone/>
              <a:defRPr sz="1485">
                <a:solidFill>
                  <a:schemeClr val="tx1">
                    <a:tint val="75000"/>
                  </a:schemeClr>
                </a:solidFill>
              </a:defRPr>
            </a:lvl2pPr>
            <a:lvl3pPr marL="754380" indent="0">
              <a:buNone/>
              <a:defRPr sz="1320">
                <a:solidFill>
                  <a:schemeClr val="tx1">
                    <a:tint val="75000"/>
                  </a:schemeClr>
                </a:solidFill>
              </a:defRPr>
            </a:lvl3pPr>
            <a:lvl4pPr marL="1131570" indent="0">
              <a:buNone/>
              <a:defRPr sz="1155">
                <a:solidFill>
                  <a:schemeClr val="tx1">
                    <a:tint val="75000"/>
                  </a:schemeClr>
                </a:solidFill>
              </a:defRPr>
            </a:lvl4pPr>
            <a:lvl5pPr marL="1508760" indent="0">
              <a:buNone/>
              <a:defRPr sz="1155">
                <a:solidFill>
                  <a:schemeClr val="tx1">
                    <a:tint val="75000"/>
                  </a:schemeClr>
                </a:solidFill>
              </a:defRPr>
            </a:lvl5pPr>
            <a:lvl6pPr marL="1885950" indent="0">
              <a:buNone/>
              <a:defRPr sz="1155">
                <a:solidFill>
                  <a:schemeClr val="tx1">
                    <a:tint val="75000"/>
                  </a:schemeClr>
                </a:solidFill>
              </a:defRPr>
            </a:lvl6pPr>
            <a:lvl7pPr marL="2263140" indent="0">
              <a:buNone/>
              <a:defRPr sz="1155">
                <a:solidFill>
                  <a:schemeClr val="tx1">
                    <a:tint val="75000"/>
                  </a:schemeClr>
                </a:solidFill>
              </a:defRPr>
            </a:lvl7pPr>
            <a:lvl8pPr marL="2640330" indent="0">
              <a:buNone/>
              <a:defRPr sz="1155">
                <a:solidFill>
                  <a:schemeClr val="tx1">
                    <a:tint val="75000"/>
                  </a:schemeClr>
                </a:solidFill>
              </a:defRPr>
            </a:lvl8pPr>
            <a:lvl9pPr marL="3017520" indent="0">
              <a:buNone/>
              <a:defRPr sz="1155">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cxnSp>
        <p:nvCxnSpPr>
          <p:cNvPr id="7" name="Straight Connector 6"/>
          <p:cNvCxnSpPr/>
          <p:nvPr/>
        </p:nvCxnSpPr>
        <p:spPr>
          <a:xfrm>
            <a:off x="1634491" y="4556462"/>
            <a:ext cx="678942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419431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42975" y="2331719"/>
            <a:ext cx="3922776" cy="4559808"/>
          </a:xfrm>
        </p:spPr>
        <p:txBody>
          <a:bodyPr/>
          <a:lstStyle>
            <a:lvl1pPr>
              <a:defRPr sz="1815"/>
            </a:lvl1pPr>
            <a:lvl2pPr>
              <a:defRPr sz="1650"/>
            </a:lvl2pPr>
            <a:lvl3pPr>
              <a:defRPr sz="1485"/>
            </a:lvl3pPr>
            <a:lvl4pPr>
              <a:defRPr sz="1320"/>
            </a:lvl4pPr>
            <a:lvl5pPr>
              <a:defRPr sz="1320"/>
            </a:lvl5pPr>
            <a:lvl6pPr>
              <a:defRPr sz="1320"/>
            </a:lvl6pPr>
            <a:lvl7pPr>
              <a:defRPr sz="1320"/>
            </a:lvl7pPr>
            <a:lvl8pPr>
              <a:defRPr sz="1320"/>
            </a:lvl8pPr>
            <a:lvl9pPr>
              <a:defRPr sz="132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170780" y="2331720"/>
            <a:ext cx="3922776" cy="4559808"/>
          </a:xfrm>
        </p:spPr>
        <p:txBody>
          <a:bodyPr/>
          <a:lstStyle>
            <a:lvl1pPr>
              <a:defRPr sz="1815"/>
            </a:lvl1pPr>
            <a:lvl2pPr>
              <a:defRPr sz="1650"/>
            </a:lvl2pPr>
            <a:lvl3pPr>
              <a:defRPr sz="1485"/>
            </a:lvl3pPr>
            <a:lvl4pPr>
              <a:defRPr sz="1320"/>
            </a:lvl4pPr>
            <a:lvl5pPr>
              <a:defRPr sz="1320"/>
            </a:lvl5pPr>
            <a:lvl6pPr>
              <a:defRPr sz="1320"/>
            </a:lvl6pPr>
            <a:lvl7pPr>
              <a:defRPr sz="1320"/>
            </a:lvl7pPr>
            <a:lvl8pPr>
              <a:defRPr sz="1320"/>
            </a:lvl8pPr>
            <a:lvl9pPr>
              <a:defRPr sz="132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t>3/22/2026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6787767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942975" y="2268379"/>
            <a:ext cx="3922776" cy="880872"/>
          </a:xfrm>
        </p:spPr>
        <p:txBody>
          <a:bodyPr anchor="ctr"/>
          <a:lstStyle>
            <a:lvl1pPr marL="0" indent="0">
              <a:spcBef>
                <a:spcPts val="0"/>
              </a:spcBef>
              <a:buNone/>
              <a:defRPr sz="1980" b="1"/>
            </a:lvl1pPr>
            <a:lvl2pPr marL="377190" indent="0">
              <a:buNone/>
              <a:defRPr sz="1650" b="1"/>
            </a:lvl2pPr>
            <a:lvl3pPr marL="754380" indent="0">
              <a:buNone/>
              <a:defRPr sz="1485" b="1"/>
            </a:lvl3pPr>
            <a:lvl4pPr marL="1131570" indent="0">
              <a:buNone/>
              <a:defRPr sz="1320" b="1"/>
            </a:lvl4pPr>
            <a:lvl5pPr marL="1508760" indent="0">
              <a:buNone/>
              <a:defRPr sz="1320" b="1"/>
            </a:lvl5pPr>
            <a:lvl6pPr marL="1885950" indent="0">
              <a:buNone/>
              <a:defRPr sz="1320" b="1"/>
            </a:lvl6pPr>
            <a:lvl7pPr marL="2263140" indent="0">
              <a:buNone/>
              <a:defRPr sz="1320" b="1"/>
            </a:lvl7pPr>
            <a:lvl8pPr marL="2640330" indent="0">
              <a:buNone/>
              <a:defRPr sz="1320" b="1"/>
            </a:lvl8pPr>
            <a:lvl9pPr marL="3017520" indent="0">
              <a:buNone/>
              <a:defRPr sz="1320" b="1"/>
            </a:lvl9pPr>
          </a:lstStyle>
          <a:p>
            <a:pPr lvl="0"/>
            <a:r>
              <a:rPr lang="en-US"/>
              <a:t>Click to edit Master text styles</a:t>
            </a:r>
          </a:p>
        </p:txBody>
      </p:sp>
      <p:sp>
        <p:nvSpPr>
          <p:cNvPr id="4" name="Content Placeholder 3"/>
          <p:cNvSpPr>
            <a:spLocks noGrp="1"/>
          </p:cNvSpPr>
          <p:nvPr>
            <p:ph sz="half" idx="2"/>
          </p:nvPr>
        </p:nvSpPr>
        <p:spPr>
          <a:xfrm>
            <a:off x="942975" y="3084347"/>
            <a:ext cx="3922776" cy="3834384"/>
          </a:xfrm>
        </p:spPr>
        <p:txBody>
          <a:bodyPr/>
          <a:lstStyle>
            <a:lvl1pPr>
              <a:defRPr sz="1815"/>
            </a:lvl1pPr>
            <a:lvl2pPr>
              <a:defRPr sz="1650"/>
            </a:lvl2pPr>
            <a:lvl3pPr>
              <a:defRPr sz="1485"/>
            </a:lvl3pPr>
            <a:lvl4pPr>
              <a:defRPr sz="1320"/>
            </a:lvl4pPr>
            <a:lvl5pPr>
              <a:defRPr sz="1320"/>
            </a:lvl5pPr>
            <a:lvl6pPr>
              <a:defRPr sz="1320"/>
            </a:lvl6pPr>
            <a:lvl7pPr>
              <a:defRPr sz="1320"/>
            </a:lvl7pPr>
            <a:lvl8pPr>
              <a:defRPr sz="1320"/>
            </a:lvl8pPr>
            <a:lvl9pPr>
              <a:defRPr sz="132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172068" y="2265570"/>
            <a:ext cx="3922776" cy="880872"/>
          </a:xfrm>
        </p:spPr>
        <p:txBody>
          <a:bodyPr anchor="ctr"/>
          <a:lstStyle>
            <a:lvl1pPr marL="0" indent="0">
              <a:spcBef>
                <a:spcPts val="0"/>
              </a:spcBef>
              <a:buNone/>
              <a:defRPr sz="1980" b="1"/>
            </a:lvl1pPr>
            <a:lvl2pPr marL="377190" indent="0">
              <a:buNone/>
              <a:defRPr sz="1650" b="1"/>
            </a:lvl2pPr>
            <a:lvl3pPr marL="754380" indent="0">
              <a:buNone/>
              <a:defRPr sz="1485" b="1"/>
            </a:lvl3pPr>
            <a:lvl4pPr marL="1131570" indent="0">
              <a:buNone/>
              <a:defRPr sz="1320" b="1"/>
            </a:lvl4pPr>
            <a:lvl5pPr marL="1508760" indent="0">
              <a:buNone/>
              <a:defRPr sz="1320" b="1"/>
            </a:lvl5pPr>
            <a:lvl6pPr marL="1885950" indent="0">
              <a:buNone/>
              <a:defRPr sz="1320" b="1"/>
            </a:lvl6pPr>
            <a:lvl7pPr marL="2263140" indent="0">
              <a:buNone/>
              <a:defRPr sz="1320" b="1"/>
            </a:lvl7pPr>
            <a:lvl8pPr marL="2640330" indent="0">
              <a:buNone/>
              <a:defRPr sz="1320" b="1"/>
            </a:lvl8pPr>
            <a:lvl9pPr marL="3017520" indent="0">
              <a:buNone/>
              <a:defRPr sz="1320" b="1"/>
            </a:lvl9pPr>
          </a:lstStyle>
          <a:p>
            <a:pPr lvl="0"/>
            <a:r>
              <a:rPr lang="en-US"/>
              <a:t>Click to edit Master text styles</a:t>
            </a:r>
          </a:p>
        </p:txBody>
      </p:sp>
      <p:sp>
        <p:nvSpPr>
          <p:cNvPr id="6" name="Content Placeholder 5"/>
          <p:cNvSpPr>
            <a:spLocks noGrp="1"/>
          </p:cNvSpPr>
          <p:nvPr>
            <p:ph sz="quarter" idx="4"/>
          </p:nvPr>
        </p:nvSpPr>
        <p:spPr>
          <a:xfrm>
            <a:off x="5172068" y="3081898"/>
            <a:ext cx="3922776" cy="3834384"/>
          </a:xfrm>
        </p:spPr>
        <p:txBody>
          <a:bodyPr/>
          <a:lstStyle>
            <a:lvl1pPr>
              <a:defRPr sz="1815"/>
            </a:lvl1pPr>
            <a:lvl2pPr>
              <a:defRPr sz="1650"/>
            </a:lvl2pPr>
            <a:lvl3pPr>
              <a:defRPr sz="1485"/>
            </a:lvl3pPr>
            <a:lvl4pPr>
              <a:defRPr sz="1320"/>
            </a:lvl4pPr>
            <a:lvl5pPr>
              <a:defRPr sz="1320"/>
            </a:lvl5pPr>
            <a:lvl6pPr>
              <a:defRPr sz="1320"/>
            </a:lvl6pPr>
            <a:lvl7pPr>
              <a:defRPr sz="1320"/>
            </a:lvl7pPr>
            <a:lvl8pPr>
              <a:defRPr sz="1320"/>
            </a:lvl8pPr>
            <a:lvl9pPr>
              <a:defRPr sz="132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t>3/22/2026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4033704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t>3/22/2026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1220261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3/22/2026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8283950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42975" y="1243584"/>
            <a:ext cx="3118104" cy="1969008"/>
          </a:xfrm>
        </p:spPr>
        <p:txBody>
          <a:bodyPr anchor="b">
            <a:noAutofit/>
          </a:bodyPr>
          <a:lstStyle>
            <a:lvl1pPr>
              <a:lnSpc>
                <a:spcPct val="90000"/>
              </a:lnSpc>
              <a:defRPr sz="3300" b="0"/>
            </a:lvl1pPr>
          </a:lstStyle>
          <a:p>
            <a:r>
              <a:rPr lang="en-US"/>
              <a:t>Click to edit Master title style</a:t>
            </a:r>
            <a:endParaRPr lang="en-US" dirty="0"/>
          </a:p>
        </p:txBody>
      </p:sp>
      <p:sp>
        <p:nvSpPr>
          <p:cNvPr id="3" name="Content Placeholder 2"/>
          <p:cNvSpPr>
            <a:spLocks noGrp="1"/>
          </p:cNvSpPr>
          <p:nvPr>
            <p:ph idx="1"/>
          </p:nvPr>
        </p:nvSpPr>
        <p:spPr>
          <a:xfrm>
            <a:off x="4542245" y="1243584"/>
            <a:ext cx="4564602" cy="5285232"/>
          </a:xfrm>
        </p:spPr>
        <p:txBody>
          <a:bodyPr/>
          <a:lstStyle>
            <a:lvl1pPr>
              <a:defRPr sz="2640"/>
            </a:lvl1pPr>
            <a:lvl2pPr>
              <a:defRPr sz="2310"/>
            </a:lvl2pPr>
            <a:lvl3pPr>
              <a:defRPr sz="1980"/>
            </a:lvl3pPr>
            <a:lvl4pPr>
              <a:defRPr sz="1650"/>
            </a:lvl4pPr>
            <a:lvl5pPr>
              <a:defRPr sz="1650"/>
            </a:lvl5pPr>
            <a:lvl6pPr>
              <a:defRPr sz="1650"/>
            </a:lvl6pPr>
            <a:lvl7pPr>
              <a:defRPr sz="1650"/>
            </a:lvl7pPr>
            <a:lvl8pPr>
              <a:defRPr sz="1650"/>
            </a:lvl8pPr>
            <a:lvl9pPr>
              <a:defRPr sz="16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42975" y="3212592"/>
            <a:ext cx="3118104" cy="3316224"/>
          </a:xfrm>
        </p:spPr>
        <p:txBody>
          <a:bodyPr>
            <a:normAutofit/>
          </a:bodyPr>
          <a:lstStyle>
            <a:lvl1pPr marL="0" indent="0">
              <a:lnSpc>
                <a:spcPct val="100000"/>
              </a:lnSpc>
              <a:spcBef>
                <a:spcPts val="880"/>
              </a:spcBef>
              <a:buNone/>
              <a:defRPr sz="1403"/>
            </a:lvl1pPr>
            <a:lvl2pPr marL="377190" indent="0">
              <a:buNone/>
              <a:defRPr sz="990"/>
            </a:lvl2pPr>
            <a:lvl3pPr marL="754380" indent="0">
              <a:buNone/>
              <a:defRPr sz="825"/>
            </a:lvl3pPr>
            <a:lvl4pPr marL="1131570" indent="0">
              <a:buNone/>
              <a:defRPr sz="743"/>
            </a:lvl4pPr>
            <a:lvl5pPr marL="1508760" indent="0">
              <a:buNone/>
              <a:defRPr sz="743"/>
            </a:lvl5pPr>
            <a:lvl6pPr marL="1885950" indent="0">
              <a:buNone/>
              <a:defRPr sz="743"/>
            </a:lvl6pPr>
            <a:lvl7pPr marL="2263140" indent="0">
              <a:buNone/>
              <a:defRPr sz="743"/>
            </a:lvl7pPr>
            <a:lvl8pPr marL="2640330" indent="0">
              <a:buNone/>
              <a:defRPr sz="743"/>
            </a:lvl8pPr>
            <a:lvl9pPr marL="3017520" indent="0">
              <a:buNone/>
              <a:defRPr sz="743"/>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3/22/2026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3481953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42975" y="1243584"/>
            <a:ext cx="3118104" cy="1969008"/>
          </a:xfrm>
        </p:spPr>
        <p:txBody>
          <a:bodyPr anchor="b">
            <a:noAutofit/>
          </a:bodyPr>
          <a:lstStyle>
            <a:lvl1pPr>
              <a:lnSpc>
                <a:spcPct val="90000"/>
              </a:lnSpc>
              <a:defRPr sz="33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4421018" y="1212494"/>
            <a:ext cx="4683473" cy="5264507"/>
          </a:xfrm>
        </p:spPr>
        <p:txBody>
          <a:bodyPr lIns="274320" tIns="182880" anchor="t">
            <a:normAutofit/>
          </a:bodyPr>
          <a:lstStyle>
            <a:lvl1pPr marL="0" indent="0">
              <a:buNone/>
              <a:defRPr sz="2310"/>
            </a:lvl1pPr>
            <a:lvl2pPr marL="377190" indent="0">
              <a:buNone/>
              <a:defRPr sz="2310"/>
            </a:lvl2pPr>
            <a:lvl3pPr marL="754380" indent="0">
              <a:buNone/>
              <a:defRPr sz="1980"/>
            </a:lvl3pPr>
            <a:lvl4pPr marL="1131570" indent="0">
              <a:buNone/>
              <a:defRPr sz="1650"/>
            </a:lvl4pPr>
            <a:lvl5pPr marL="1508760" indent="0">
              <a:buNone/>
              <a:defRPr sz="1650"/>
            </a:lvl5pPr>
            <a:lvl6pPr marL="1885950" indent="0">
              <a:buNone/>
              <a:defRPr sz="1650"/>
            </a:lvl6pPr>
            <a:lvl7pPr marL="2263140" indent="0">
              <a:buNone/>
              <a:defRPr sz="1650"/>
            </a:lvl7pPr>
            <a:lvl8pPr marL="2640330" indent="0">
              <a:buNone/>
              <a:defRPr sz="1650"/>
            </a:lvl8pPr>
            <a:lvl9pPr marL="3017520" indent="0">
              <a:buNone/>
              <a:defRPr sz="1650"/>
            </a:lvl9pPr>
          </a:lstStyle>
          <a:p>
            <a:r>
              <a:rPr lang="en-US"/>
              <a:t>Click icon to add picture</a:t>
            </a:r>
            <a:endParaRPr lang="en-US" dirty="0"/>
          </a:p>
        </p:txBody>
      </p:sp>
      <p:sp>
        <p:nvSpPr>
          <p:cNvPr id="4" name="Text Placeholder 3"/>
          <p:cNvSpPr>
            <a:spLocks noGrp="1"/>
          </p:cNvSpPr>
          <p:nvPr>
            <p:ph type="body" sz="half" idx="2"/>
          </p:nvPr>
        </p:nvSpPr>
        <p:spPr>
          <a:xfrm>
            <a:off x="942975" y="3212592"/>
            <a:ext cx="3118104" cy="3264408"/>
          </a:xfrm>
        </p:spPr>
        <p:txBody>
          <a:bodyPr>
            <a:normAutofit/>
          </a:bodyPr>
          <a:lstStyle>
            <a:lvl1pPr marL="0" indent="0">
              <a:lnSpc>
                <a:spcPct val="100000"/>
              </a:lnSpc>
              <a:spcBef>
                <a:spcPts val="880"/>
              </a:spcBef>
              <a:buNone/>
              <a:defRPr sz="1403"/>
            </a:lvl1pPr>
            <a:lvl2pPr marL="377190" indent="0">
              <a:buNone/>
              <a:defRPr sz="990"/>
            </a:lvl2pPr>
            <a:lvl3pPr marL="754380" indent="0">
              <a:buNone/>
              <a:defRPr sz="825"/>
            </a:lvl3pPr>
            <a:lvl4pPr marL="1131570" indent="0">
              <a:buNone/>
              <a:defRPr sz="743"/>
            </a:lvl4pPr>
            <a:lvl5pPr marL="1508760" indent="0">
              <a:buNone/>
              <a:defRPr sz="743"/>
            </a:lvl5pPr>
            <a:lvl6pPr marL="1885950" indent="0">
              <a:buNone/>
              <a:defRPr sz="743"/>
            </a:lvl6pPr>
            <a:lvl7pPr marL="2263140" indent="0">
              <a:buNone/>
              <a:defRPr sz="743"/>
            </a:lvl7pPr>
            <a:lvl8pPr marL="2640330" indent="0">
              <a:buNone/>
              <a:defRPr sz="743"/>
            </a:lvl8pPr>
            <a:lvl9pPr marL="3017520" indent="0">
              <a:buNone/>
              <a:defRPr sz="743"/>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3/22/2026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5117893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7469603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98043" y="863600"/>
            <a:ext cx="1917383" cy="613156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942975" y="863600"/>
            <a:ext cx="6129338" cy="613156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0053150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Rectangle 6"/>
          <p:cNvSpPr/>
          <p:nvPr/>
        </p:nvSpPr>
        <p:spPr>
          <a:xfrm>
            <a:off x="201168" y="207264"/>
            <a:ext cx="9656064" cy="7357872"/>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Placeholder 1"/>
          <p:cNvSpPr>
            <a:spLocks noGrp="1"/>
          </p:cNvSpPr>
          <p:nvPr>
            <p:ph type="title"/>
          </p:nvPr>
        </p:nvSpPr>
        <p:spPr>
          <a:xfrm>
            <a:off x="942975" y="690880"/>
            <a:ext cx="8147304" cy="153720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42977" y="2331720"/>
            <a:ext cx="8145118" cy="457708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42972" y="7053674"/>
            <a:ext cx="1921487" cy="413808"/>
          </a:xfrm>
          <a:prstGeom prst="rect">
            <a:avLst/>
          </a:prstGeom>
        </p:spPr>
        <p:txBody>
          <a:bodyPr vert="horz" lIns="91440" tIns="45720" rIns="91440" bIns="45720" rtlCol="0" anchor="ctr"/>
          <a:lstStyle>
            <a:lvl1pPr algn="l">
              <a:defRPr sz="1100">
                <a:solidFill>
                  <a:schemeClr val="accent1"/>
                </a:solidFill>
              </a:defRPr>
            </a:lvl1pPr>
          </a:lstStyle>
          <a:p>
            <a:fld id="{1D8BD707-D9CF-40AE-B4C6-C98DA3205C09}" type="datetimeFigureOut">
              <a:rPr lang="en-US" smtClean="0"/>
              <a:t>3/22/2026</a:t>
            </a:fld>
            <a:endParaRPr lang="en-US"/>
          </a:p>
        </p:txBody>
      </p:sp>
      <p:sp>
        <p:nvSpPr>
          <p:cNvPr id="5" name="Footer Placeholder 4"/>
          <p:cNvSpPr>
            <a:spLocks noGrp="1"/>
          </p:cNvSpPr>
          <p:nvPr>
            <p:ph type="ftr" sz="quarter" idx="3"/>
          </p:nvPr>
        </p:nvSpPr>
        <p:spPr>
          <a:xfrm>
            <a:off x="3258048" y="7053674"/>
            <a:ext cx="3892164" cy="413808"/>
          </a:xfrm>
          <a:prstGeom prst="rect">
            <a:avLst/>
          </a:prstGeom>
        </p:spPr>
        <p:txBody>
          <a:bodyPr vert="horz" lIns="91440" tIns="45720" rIns="91440" bIns="45720" rtlCol="0" anchor="ctr"/>
          <a:lstStyle>
            <a:lvl1pPr algn="ctr">
              <a:defRPr sz="1100">
                <a:solidFill>
                  <a:schemeClr val="accent1"/>
                </a:solidFill>
              </a:defRPr>
            </a:lvl1pPr>
          </a:lstStyle>
          <a:p>
            <a:endParaRPr lang="en-US"/>
          </a:p>
        </p:txBody>
      </p:sp>
      <p:sp>
        <p:nvSpPr>
          <p:cNvPr id="6" name="Slide Number Placeholder 5"/>
          <p:cNvSpPr>
            <a:spLocks noGrp="1"/>
          </p:cNvSpPr>
          <p:nvPr>
            <p:ph type="sldNum" sz="quarter" idx="4"/>
          </p:nvPr>
        </p:nvSpPr>
        <p:spPr>
          <a:xfrm>
            <a:off x="7696864" y="7053674"/>
            <a:ext cx="1407629" cy="413808"/>
          </a:xfrm>
          <a:prstGeom prst="rect">
            <a:avLst/>
          </a:prstGeom>
        </p:spPr>
        <p:txBody>
          <a:bodyPr vert="horz" lIns="91440" tIns="45720" rIns="91440" bIns="45720" rtlCol="0" anchor="ctr"/>
          <a:lstStyle>
            <a:lvl1pPr algn="r">
              <a:defRPr sz="1100">
                <a:solidFill>
                  <a:schemeClr val="accent1"/>
                </a:solidFill>
              </a:defRPr>
            </a:lvl1pPr>
          </a:lstStyle>
          <a:p>
            <a:fld id="{B6F15528-21DE-4FAA-801E-634DDDAF4B2B}" type="slidenum">
              <a:rPr lang="en-US" smtClean="0"/>
              <a:t>‹#›</a:t>
            </a:fld>
            <a:endParaRPr lang="en-US"/>
          </a:p>
        </p:txBody>
      </p:sp>
    </p:spTree>
    <p:extLst>
      <p:ext uri="{BB962C8B-B14F-4D97-AF65-F5344CB8AC3E}">
        <p14:creationId xmlns:p14="http://schemas.microsoft.com/office/powerpoint/2010/main" val="779473734"/>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Lst>
  <p:txStyles>
    <p:titleStyle>
      <a:lvl1pPr algn="l" defTabSz="754380" rtl="0" eaLnBrk="1" latinLnBrk="0" hangingPunct="1">
        <a:lnSpc>
          <a:spcPct val="90000"/>
        </a:lnSpc>
        <a:spcBef>
          <a:spcPct val="0"/>
        </a:spcBef>
        <a:buNone/>
        <a:defRPr sz="4400" kern="1200">
          <a:solidFill>
            <a:schemeClr val="accent1"/>
          </a:solidFill>
          <a:latin typeface="+mj-lt"/>
          <a:ea typeface="+mj-ea"/>
          <a:cs typeface="+mj-cs"/>
        </a:defRPr>
      </a:lvl1pPr>
    </p:titleStyle>
    <p:bodyStyle>
      <a:lvl1pPr marL="188595" indent="-150876" algn="l" defTabSz="754380" rtl="0" eaLnBrk="1" latinLnBrk="0" hangingPunct="1">
        <a:lnSpc>
          <a:spcPct val="90000"/>
        </a:lnSpc>
        <a:spcBef>
          <a:spcPts val="1100"/>
        </a:spcBef>
        <a:buClr>
          <a:schemeClr val="accent1"/>
        </a:buClr>
        <a:buSzPct val="80000"/>
        <a:buFont typeface="Corbel" pitchFamily="34" charset="0"/>
        <a:buChar char="•"/>
        <a:defRPr sz="2200" kern="1200">
          <a:solidFill>
            <a:schemeClr val="accent1"/>
          </a:solidFill>
          <a:latin typeface="+mn-lt"/>
          <a:ea typeface="+mn-ea"/>
          <a:cs typeface="+mn-cs"/>
        </a:defRPr>
      </a:lvl1pPr>
      <a:lvl2pPr marL="377190" indent="-150876" algn="l" defTabSz="754380" rtl="0" eaLnBrk="1" latinLnBrk="0" hangingPunct="1">
        <a:lnSpc>
          <a:spcPct val="90000"/>
        </a:lnSpc>
        <a:spcBef>
          <a:spcPts val="165"/>
        </a:spcBef>
        <a:spcAft>
          <a:spcPts val="330"/>
        </a:spcAft>
        <a:buClr>
          <a:schemeClr val="accent1"/>
        </a:buClr>
        <a:buSzPct val="80000"/>
        <a:buFont typeface="Corbel" pitchFamily="34" charset="0"/>
        <a:buChar char="•"/>
        <a:defRPr sz="1980" kern="1200">
          <a:solidFill>
            <a:schemeClr val="accent1"/>
          </a:solidFill>
          <a:latin typeface="+mn-lt"/>
          <a:ea typeface="+mn-ea"/>
          <a:cs typeface="+mn-cs"/>
        </a:defRPr>
      </a:lvl2pPr>
      <a:lvl3pPr marL="603504" indent="-150876" algn="l" defTabSz="754380" rtl="0" eaLnBrk="1" latinLnBrk="0" hangingPunct="1">
        <a:lnSpc>
          <a:spcPct val="90000"/>
        </a:lnSpc>
        <a:spcBef>
          <a:spcPts val="165"/>
        </a:spcBef>
        <a:spcAft>
          <a:spcPts val="330"/>
        </a:spcAft>
        <a:buClr>
          <a:schemeClr val="accent1"/>
        </a:buClr>
        <a:buSzPct val="80000"/>
        <a:buFont typeface="Corbel" pitchFamily="34" charset="0"/>
        <a:buChar char="•"/>
        <a:defRPr sz="1760" kern="1200">
          <a:solidFill>
            <a:schemeClr val="accent1"/>
          </a:solidFill>
          <a:latin typeface="+mn-lt"/>
          <a:ea typeface="+mn-ea"/>
          <a:cs typeface="+mn-cs"/>
        </a:defRPr>
      </a:lvl3pPr>
      <a:lvl4pPr marL="829818" indent="-150876" algn="l" defTabSz="754380" rtl="0" eaLnBrk="1" latinLnBrk="0" hangingPunct="1">
        <a:lnSpc>
          <a:spcPct val="90000"/>
        </a:lnSpc>
        <a:spcBef>
          <a:spcPts val="165"/>
        </a:spcBef>
        <a:spcAft>
          <a:spcPts val="330"/>
        </a:spcAft>
        <a:buClr>
          <a:schemeClr val="accent1"/>
        </a:buClr>
        <a:buSzPct val="80000"/>
        <a:buFont typeface="Corbel" pitchFamily="34" charset="0"/>
        <a:buChar char="•"/>
        <a:defRPr sz="1540" kern="1200">
          <a:solidFill>
            <a:schemeClr val="accent1"/>
          </a:solidFill>
          <a:latin typeface="+mn-lt"/>
          <a:ea typeface="+mn-ea"/>
          <a:cs typeface="+mn-cs"/>
        </a:defRPr>
      </a:lvl4pPr>
      <a:lvl5pPr marL="1012132" indent="-150876" algn="l" defTabSz="754380" rtl="0" eaLnBrk="1" latinLnBrk="0" hangingPunct="1">
        <a:lnSpc>
          <a:spcPct val="90000"/>
        </a:lnSpc>
        <a:spcBef>
          <a:spcPts val="165"/>
        </a:spcBef>
        <a:spcAft>
          <a:spcPts val="330"/>
        </a:spcAft>
        <a:buClr>
          <a:schemeClr val="accent1"/>
        </a:buClr>
        <a:buSzPct val="80000"/>
        <a:buFont typeface="Corbel" pitchFamily="34" charset="0"/>
        <a:buChar char="•"/>
        <a:defRPr sz="1540" kern="1200">
          <a:solidFill>
            <a:schemeClr val="accent1"/>
          </a:solidFill>
          <a:latin typeface="+mn-lt"/>
          <a:ea typeface="+mn-ea"/>
          <a:cs typeface="+mn-cs"/>
        </a:defRPr>
      </a:lvl5pPr>
      <a:lvl6pPr marL="1210000" indent="-188595" algn="l" defTabSz="754380" rtl="0" eaLnBrk="1" latinLnBrk="0" hangingPunct="1">
        <a:lnSpc>
          <a:spcPct val="90000"/>
        </a:lnSpc>
        <a:spcBef>
          <a:spcPts val="165"/>
        </a:spcBef>
        <a:spcAft>
          <a:spcPts val="330"/>
        </a:spcAft>
        <a:buClr>
          <a:schemeClr val="accent1"/>
        </a:buClr>
        <a:buSzPct val="80000"/>
        <a:buFont typeface="Corbel" pitchFamily="34" charset="0"/>
        <a:buChar char="•"/>
        <a:defRPr sz="1540" kern="1200">
          <a:solidFill>
            <a:schemeClr val="accent1"/>
          </a:solidFill>
          <a:latin typeface="+mn-lt"/>
          <a:ea typeface="+mn-ea"/>
          <a:cs typeface="+mn-cs"/>
        </a:defRPr>
      </a:lvl6pPr>
      <a:lvl7pPr marL="1430000" indent="-188595" algn="l" defTabSz="754380" rtl="0" eaLnBrk="1" latinLnBrk="0" hangingPunct="1">
        <a:lnSpc>
          <a:spcPct val="90000"/>
        </a:lnSpc>
        <a:spcBef>
          <a:spcPts val="165"/>
        </a:spcBef>
        <a:spcAft>
          <a:spcPts val="330"/>
        </a:spcAft>
        <a:buClr>
          <a:schemeClr val="accent1"/>
        </a:buClr>
        <a:buSzPct val="80000"/>
        <a:buFont typeface="Corbel" pitchFamily="34" charset="0"/>
        <a:buChar char="•"/>
        <a:defRPr sz="1540" kern="1200">
          <a:solidFill>
            <a:schemeClr val="accent1"/>
          </a:solidFill>
          <a:latin typeface="+mn-lt"/>
          <a:ea typeface="+mn-ea"/>
          <a:cs typeface="+mn-cs"/>
        </a:defRPr>
      </a:lvl7pPr>
      <a:lvl8pPr marL="1650000" indent="-188595" algn="l" defTabSz="754380" rtl="0" eaLnBrk="1" latinLnBrk="0" hangingPunct="1">
        <a:lnSpc>
          <a:spcPct val="90000"/>
        </a:lnSpc>
        <a:spcBef>
          <a:spcPts val="165"/>
        </a:spcBef>
        <a:spcAft>
          <a:spcPts val="330"/>
        </a:spcAft>
        <a:buClr>
          <a:schemeClr val="accent1"/>
        </a:buClr>
        <a:buSzPct val="80000"/>
        <a:buFont typeface="Corbel" pitchFamily="34" charset="0"/>
        <a:buChar char="•"/>
        <a:defRPr sz="1540" kern="1200">
          <a:solidFill>
            <a:schemeClr val="accent1"/>
          </a:solidFill>
          <a:latin typeface="+mn-lt"/>
          <a:ea typeface="+mn-ea"/>
          <a:cs typeface="+mn-cs"/>
        </a:defRPr>
      </a:lvl8pPr>
      <a:lvl9pPr marL="1870000" indent="-188595" algn="l" defTabSz="754380" rtl="0" eaLnBrk="1" latinLnBrk="0" hangingPunct="1">
        <a:lnSpc>
          <a:spcPct val="90000"/>
        </a:lnSpc>
        <a:spcBef>
          <a:spcPts val="165"/>
        </a:spcBef>
        <a:spcAft>
          <a:spcPts val="330"/>
        </a:spcAft>
        <a:buClr>
          <a:schemeClr val="accent1"/>
        </a:buClr>
        <a:buSzPct val="80000"/>
        <a:buFont typeface="Corbel" pitchFamily="34" charset="0"/>
        <a:buChar char="•"/>
        <a:defRPr sz="1540" kern="1200">
          <a:solidFill>
            <a:schemeClr val="accent1"/>
          </a:solidFill>
          <a:latin typeface="+mn-lt"/>
          <a:ea typeface="+mn-ea"/>
          <a:cs typeface="+mn-cs"/>
        </a:defRPr>
      </a:lvl9pPr>
    </p:bodyStyle>
    <p:otherStyle>
      <a:defPPr>
        <a:defRPr lang="en-US"/>
      </a:defPPr>
      <a:lvl1pPr marL="0" algn="l" defTabSz="754380" rtl="0" eaLnBrk="1" latinLnBrk="0" hangingPunct="1">
        <a:defRPr sz="1485" kern="1200">
          <a:solidFill>
            <a:schemeClr val="tx1"/>
          </a:solidFill>
          <a:latin typeface="+mn-lt"/>
          <a:ea typeface="+mn-ea"/>
          <a:cs typeface="+mn-cs"/>
        </a:defRPr>
      </a:lvl1pPr>
      <a:lvl2pPr marL="377190" algn="l" defTabSz="754380" rtl="0" eaLnBrk="1" latinLnBrk="0" hangingPunct="1">
        <a:defRPr sz="1485" kern="1200">
          <a:solidFill>
            <a:schemeClr val="tx1"/>
          </a:solidFill>
          <a:latin typeface="+mn-lt"/>
          <a:ea typeface="+mn-ea"/>
          <a:cs typeface="+mn-cs"/>
        </a:defRPr>
      </a:lvl2pPr>
      <a:lvl3pPr marL="754380" algn="l" defTabSz="754380" rtl="0" eaLnBrk="1" latinLnBrk="0" hangingPunct="1">
        <a:defRPr sz="1485" kern="1200">
          <a:solidFill>
            <a:schemeClr val="tx1"/>
          </a:solidFill>
          <a:latin typeface="+mn-lt"/>
          <a:ea typeface="+mn-ea"/>
          <a:cs typeface="+mn-cs"/>
        </a:defRPr>
      </a:lvl3pPr>
      <a:lvl4pPr marL="1131570" algn="l" defTabSz="754380" rtl="0" eaLnBrk="1" latinLnBrk="0" hangingPunct="1">
        <a:defRPr sz="1485" kern="1200">
          <a:solidFill>
            <a:schemeClr val="tx1"/>
          </a:solidFill>
          <a:latin typeface="+mn-lt"/>
          <a:ea typeface="+mn-ea"/>
          <a:cs typeface="+mn-cs"/>
        </a:defRPr>
      </a:lvl4pPr>
      <a:lvl5pPr marL="1508760" algn="l" defTabSz="754380" rtl="0" eaLnBrk="1" latinLnBrk="0" hangingPunct="1">
        <a:defRPr sz="1485" kern="1200">
          <a:solidFill>
            <a:schemeClr val="tx1"/>
          </a:solidFill>
          <a:latin typeface="+mn-lt"/>
          <a:ea typeface="+mn-ea"/>
          <a:cs typeface="+mn-cs"/>
        </a:defRPr>
      </a:lvl5pPr>
      <a:lvl6pPr marL="1885950" algn="l" defTabSz="754380" rtl="0" eaLnBrk="1" latinLnBrk="0" hangingPunct="1">
        <a:defRPr sz="1485" kern="1200">
          <a:solidFill>
            <a:schemeClr val="tx1"/>
          </a:solidFill>
          <a:latin typeface="+mn-lt"/>
          <a:ea typeface="+mn-ea"/>
          <a:cs typeface="+mn-cs"/>
        </a:defRPr>
      </a:lvl6pPr>
      <a:lvl7pPr marL="2263140" algn="l" defTabSz="754380" rtl="0" eaLnBrk="1" latinLnBrk="0" hangingPunct="1">
        <a:defRPr sz="1485" kern="1200">
          <a:solidFill>
            <a:schemeClr val="tx1"/>
          </a:solidFill>
          <a:latin typeface="+mn-lt"/>
          <a:ea typeface="+mn-ea"/>
          <a:cs typeface="+mn-cs"/>
        </a:defRPr>
      </a:lvl7pPr>
      <a:lvl8pPr marL="2640330" algn="l" defTabSz="754380" rtl="0" eaLnBrk="1" latinLnBrk="0" hangingPunct="1">
        <a:defRPr sz="1485" kern="1200">
          <a:solidFill>
            <a:schemeClr val="tx1"/>
          </a:solidFill>
          <a:latin typeface="+mn-lt"/>
          <a:ea typeface="+mn-ea"/>
          <a:cs typeface="+mn-cs"/>
        </a:defRPr>
      </a:lvl8pPr>
      <a:lvl9pPr marL="3017520" algn="l" defTabSz="754380" rtl="0" eaLnBrk="1" latinLnBrk="0" hangingPunct="1">
        <a:defRPr sz="148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Layout" Target="../slideLayouts/slideLayout7.xml" /></Relationships>
</file>

<file path=ppt/slides/_rels/slide2.xml.rels><?xml version="1.0" encoding="UTF-8" standalone="yes"?>
<Relationships xmlns="http://schemas.openxmlformats.org/package/2006/relationships"><Relationship Id="rId2" Type="http://schemas.openxmlformats.org/officeDocument/2006/relationships/image" Target="../media/image2.jpeg"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5.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2" Type="http://schemas.openxmlformats.org/officeDocument/2006/relationships/image" Target="../media/image5.png" /><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2" Type="http://schemas.openxmlformats.org/officeDocument/2006/relationships/image" Target="../media/image6.png" /><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2" Type="http://schemas.openxmlformats.org/officeDocument/2006/relationships/image" Target="../media/image7.png" /><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2" Type="http://schemas.openxmlformats.org/officeDocument/2006/relationships/image" Target="../media/image8.png" /><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2" Type="http://schemas.openxmlformats.org/officeDocument/2006/relationships/image" Target="../media/image9.png" /><Relationship Id="rId1" Type="http://schemas.openxmlformats.org/officeDocument/2006/relationships/slideLayout" Target="../slideLayouts/slideLayout7.xml" /></Relationships>
</file>

<file path=ppt/slides/_rels/slide20.xml.rels><?xml version="1.0" encoding="UTF-8" standalone="yes"?>
<Relationships xmlns="http://schemas.openxmlformats.org/package/2006/relationships"><Relationship Id="rId2" Type="http://schemas.openxmlformats.org/officeDocument/2006/relationships/image" Target="../media/image10.png" /><Relationship Id="rId1" Type="http://schemas.openxmlformats.org/officeDocument/2006/relationships/slideLayout" Target="../slideLayouts/slideLayout2.xml" /></Relationships>
</file>

<file path=ppt/slides/_rels/slide21.xml.rels><?xml version="1.0" encoding="UTF-8" standalone="yes"?>
<Relationships xmlns="http://schemas.openxmlformats.org/package/2006/relationships"><Relationship Id="rId3" Type="http://schemas.openxmlformats.org/officeDocument/2006/relationships/image" Target="../media/image12.png" /><Relationship Id="rId2" Type="http://schemas.openxmlformats.org/officeDocument/2006/relationships/image" Target="../media/image11.png" /><Relationship Id="rId1" Type="http://schemas.openxmlformats.org/officeDocument/2006/relationships/slideLayout" Target="../slideLayouts/slideLayout7.xml" /></Relationships>
</file>

<file path=ppt/slides/_rels/slide22.xml.rels><?xml version="1.0" encoding="UTF-8" standalone="yes"?>
<Relationships xmlns="http://schemas.openxmlformats.org/package/2006/relationships"><Relationship Id="rId3" Type="http://schemas.openxmlformats.org/officeDocument/2006/relationships/image" Target="../media/image14.png" /><Relationship Id="rId2" Type="http://schemas.openxmlformats.org/officeDocument/2006/relationships/image" Target="../media/image13.png" /><Relationship Id="rId1" Type="http://schemas.openxmlformats.org/officeDocument/2006/relationships/slideLayout" Target="../slideLayouts/slideLayout7.xml" /></Relationships>
</file>

<file path=ppt/slides/_rels/slide23.xml.rels><?xml version="1.0" encoding="UTF-8" standalone="yes"?>
<Relationships xmlns="http://schemas.openxmlformats.org/package/2006/relationships"><Relationship Id="rId2" Type="http://schemas.openxmlformats.org/officeDocument/2006/relationships/image" Target="../media/image15.png" /><Relationship Id="rId1" Type="http://schemas.openxmlformats.org/officeDocument/2006/relationships/slideLayout" Target="../slideLayouts/slideLayout7.xml" /></Relationships>
</file>

<file path=ppt/slides/_rels/slide24.xml.rels><?xml version="1.0" encoding="UTF-8" standalone="yes"?>
<Relationships xmlns="http://schemas.openxmlformats.org/package/2006/relationships"><Relationship Id="rId2" Type="http://schemas.openxmlformats.org/officeDocument/2006/relationships/image" Target="../media/image16.png" /><Relationship Id="rId1" Type="http://schemas.openxmlformats.org/officeDocument/2006/relationships/slideLayout" Target="../slideLayouts/slideLayout7.xml" /></Relationships>
</file>

<file path=ppt/slides/_rels/slide25.xml.rels><?xml version="1.0" encoding="UTF-8" standalone="yes"?>
<Relationships xmlns="http://schemas.openxmlformats.org/package/2006/relationships"><Relationship Id="rId2" Type="http://schemas.openxmlformats.org/officeDocument/2006/relationships/image" Target="../media/image17.png" /><Relationship Id="rId1" Type="http://schemas.openxmlformats.org/officeDocument/2006/relationships/slideLayout" Target="../slideLayouts/slideLayout7.xml" /></Relationships>
</file>

<file path=ppt/slides/_rels/slide26.xml.rels><?xml version="1.0" encoding="UTF-8" standalone="yes"?>
<Relationships xmlns="http://schemas.openxmlformats.org/package/2006/relationships"><Relationship Id="rId2" Type="http://schemas.openxmlformats.org/officeDocument/2006/relationships/image" Target="../media/image18.png" /><Relationship Id="rId1" Type="http://schemas.openxmlformats.org/officeDocument/2006/relationships/slideLayout" Target="../slideLayouts/slideLayout7.xml" /></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 standalone="yes"?>
<Relationships xmlns="http://schemas.openxmlformats.org/package/2006/relationships"><Relationship Id="rId3" Type="http://schemas.openxmlformats.org/officeDocument/2006/relationships/hyperlink" Target="https://doi.org/10.3390/data9020038" TargetMode="External" /><Relationship Id="rId2" Type="http://schemas.openxmlformats.org/officeDocument/2006/relationships/hyperlink" Target="https://doi.org/10.3390/electronics13203984" TargetMode="External" /><Relationship Id="rId1" Type="http://schemas.openxmlformats.org/officeDocument/2006/relationships/slideLayout" Target="../slideLayouts/slideLayout2.xml" /><Relationship Id="rId5" Type="http://schemas.openxmlformats.org/officeDocument/2006/relationships/hyperlink" Target="https://doi.org/10.3390/math13010168" TargetMode="External" /><Relationship Id="rId4" Type="http://schemas.openxmlformats.org/officeDocument/2006/relationships/hyperlink" Target="https://doi.org/10.3390/app15031224" TargetMode="External" /></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 standalone="yes"?>
<Relationships xmlns="http://schemas.openxmlformats.org/package/2006/relationships"><Relationship Id="rId2" Type="http://schemas.openxmlformats.org/officeDocument/2006/relationships/image" Target="../media/image19.png" /><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7E73367-4499-CEE1-AEDC-F02BCC4977F9}"/>
              </a:ext>
            </a:extLst>
          </p:cNvPr>
          <p:cNvSpPr txBox="1"/>
          <p:nvPr/>
        </p:nvSpPr>
        <p:spPr>
          <a:xfrm>
            <a:off x="556804" y="551643"/>
            <a:ext cx="8944792" cy="9528762"/>
          </a:xfrm>
          <a:prstGeom prst="rect">
            <a:avLst/>
          </a:prstGeom>
          <a:noFill/>
        </p:spPr>
        <p:txBody>
          <a:bodyPr wrap="square" rtlCol="0">
            <a:spAutoFit/>
          </a:bodyPr>
          <a:lstStyle/>
          <a:p>
            <a:pPr algn="ctr"/>
            <a:endParaRPr lang="en-US" sz="2200" b="1" dirty="0">
              <a:solidFill>
                <a:srgbClr val="FF0000"/>
              </a:solidFill>
              <a:latin typeface="Times New Roman" panose="02020603050405020304"/>
              <a:cs typeface="Times New Roman" panose="02020603050405020304"/>
            </a:endParaRPr>
          </a:p>
          <a:p>
            <a:pPr algn="ctr"/>
            <a:r>
              <a:rPr lang="en-US" sz="2200" b="1" dirty="0">
                <a:solidFill>
                  <a:srgbClr val="FF0000"/>
                </a:solidFill>
                <a:latin typeface="Times New Roman" panose="02020603050405020304"/>
                <a:cs typeface="Times New Roman" panose="02020603050405020304"/>
              </a:rPr>
              <a:t>            CMR Technical Campus</a:t>
            </a:r>
            <a:br>
              <a:rPr lang="en-US" sz="2200" b="1" dirty="0">
                <a:latin typeface="Times New Roman" panose="02020603050405020304"/>
                <a:cs typeface="Times New Roman" panose="02020603050405020304"/>
              </a:rPr>
            </a:br>
            <a:r>
              <a:rPr lang="en-US" sz="2200" b="1" dirty="0">
                <a:latin typeface="Times New Roman" panose="02020603050405020304"/>
                <a:cs typeface="Times New Roman" panose="02020603050405020304"/>
              </a:rPr>
              <a:t>            </a:t>
            </a:r>
            <a:r>
              <a:rPr lang="en-US" sz="2200" b="1" dirty="0">
                <a:solidFill>
                  <a:srgbClr val="00B0F0"/>
                </a:solidFill>
                <a:latin typeface="Times New Roman" panose="02020603050405020304"/>
                <a:cs typeface="Times New Roman" panose="02020603050405020304"/>
              </a:rPr>
              <a:t>Department of Information Technology</a:t>
            </a:r>
          </a:p>
          <a:p>
            <a:pPr algn="ctr"/>
            <a:endParaRPr lang="en-US" sz="2200" b="1" dirty="0">
              <a:solidFill>
                <a:srgbClr val="00B0F0"/>
              </a:solidFill>
              <a:latin typeface="Times New Roman" panose="02020603050405020304"/>
              <a:cs typeface="Times New Roman" panose="02020603050405020304"/>
            </a:endParaRPr>
          </a:p>
          <a:p>
            <a:pPr algn="ctr"/>
            <a:r>
              <a:rPr lang="en-US" sz="2200" b="1" dirty="0">
                <a:solidFill>
                  <a:srgbClr val="C00000"/>
                </a:solidFill>
                <a:latin typeface="Times New Roman" panose="02020603050405020304"/>
                <a:cs typeface="Times New Roman" panose="02020603050405020304"/>
              </a:rPr>
              <a:t>                      Major Project Stage-II</a:t>
            </a:r>
          </a:p>
          <a:p>
            <a:pPr algn="ctr"/>
            <a:r>
              <a:rPr lang="en-US" sz="2200" b="1" dirty="0">
                <a:solidFill>
                  <a:srgbClr val="C00000"/>
                </a:solidFill>
                <a:latin typeface="Times New Roman" panose="02020603050405020304"/>
                <a:cs typeface="Times New Roman" panose="02020603050405020304"/>
              </a:rPr>
              <a:t>                    Review-2</a:t>
            </a:r>
          </a:p>
          <a:p>
            <a:pPr algn="ctr"/>
            <a:endParaRPr lang="en-US" sz="2200" b="1" dirty="0">
              <a:solidFill>
                <a:srgbClr val="00B0F0"/>
              </a:solidFill>
              <a:latin typeface="Times New Roman" panose="02020603050405020304"/>
              <a:cs typeface="Times New Roman" panose="02020603050405020304"/>
            </a:endParaRPr>
          </a:p>
          <a:p>
            <a:pPr algn="ctr"/>
            <a:endParaRPr lang="en-US" sz="2200" b="1" dirty="0">
              <a:solidFill>
                <a:srgbClr val="00B0F0"/>
              </a:solidFill>
              <a:latin typeface="Times New Roman" panose="02020603050405020304"/>
              <a:cs typeface="Times New Roman" panose="02020603050405020304"/>
            </a:endParaRPr>
          </a:p>
          <a:p>
            <a:pPr algn="ctr"/>
            <a:r>
              <a:rPr lang="en-US" b="1" dirty="0">
                <a:latin typeface="Times New Roman" panose="02020603050405020304"/>
              </a:rPr>
              <a:t>                                                           Project Title</a:t>
            </a:r>
            <a:r>
              <a:rPr lang="en-US" sz="1540" b="1"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A Comparative Hybrid Deep Learning </a:t>
            </a:r>
            <a:r>
              <a:rPr lang="en-US" b="1" dirty="0">
                <a:latin typeface="Times New Roman" panose="02020603050405020304" pitchFamily="18" charset="0"/>
                <a:cs typeface="Times New Roman" panose="02020603050405020304" pitchFamily="18" charset="0"/>
              </a:rPr>
              <a:t>            </a:t>
            </a:r>
          </a:p>
          <a:p>
            <a:pPr algn="ctr"/>
            <a:r>
              <a:rPr lang="en-US" b="1"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Study of Twitter Sentiment</a:t>
            </a:r>
            <a:endParaRPr lang="en-US" b="1" dirty="0">
              <a:latin typeface="Times New Roman" panose="02020603050405020304" pitchFamily="18" charset="0"/>
              <a:cs typeface="Times New Roman" panose="02020603050405020304" pitchFamily="18" charset="0"/>
            </a:endParaRPr>
          </a:p>
          <a:p>
            <a:pPr algn="ctr"/>
            <a:r>
              <a:rPr lang="en-IN" b="1"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                                                                                             on</a:t>
            </a:r>
            <a:r>
              <a:rPr lang="en-IN" b="1" dirty="0">
                <a:latin typeface="Times New Roman" panose="02020603050405020304" pitchFamily="18" charset="0"/>
                <a:cs typeface="Times New Roman" panose="02020603050405020304" pitchFamily="18" charset="0"/>
              </a:rPr>
              <a:t> the Russia-Ukraine Wa</a:t>
            </a:r>
            <a:r>
              <a:rPr lang="en-US" b="1" dirty="0">
                <a:latin typeface="Times New Roman" panose="02020603050405020304" pitchFamily="18" charset="0"/>
                <a:cs typeface="Times New Roman" panose="02020603050405020304" pitchFamily="18" charset="0"/>
              </a:rPr>
              <a:t>r.</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sz="1540" b="1" dirty="0">
              <a:solidFill>
                <a:srgbClr val="00B0F0"/>
              </a:solidFill>
              <a:latin typeface="Times New Roman" panose="02020603050405020304" pitchFamily="18" charset="0"/>
              <a:cs typeface="Times New Roman" panose="02020603050405020304" pitchFamily="18" charset="0"/>
            </a:endParaRPr>
          </a:p>
          <a:p>
            <a:endParaRPr lang="en-US" sz="1540" b="1" dirty="0">
              <a:solidFill>
                <a:srgbClr val="00B0F0"/>
              </a:solidFill>
              <a:latin typeface="Times New Roman" panose="02020603050405020304"/>
              <a:cs typeface="Times New Roman" panose="02020603050405020304"/>
            </a:endParaRPr>
          </a:p>
          <a:p>
            <a:pPr algn="ctr"/>
            <a:endParaRPr lang="en-US" sz="1540" b="1" dirty="0">
              <a:solidFill>
                <a:srgbClr val="00B0F0"/>
              </a:solidFill>
              <a:latin typeface="Times New Roman" panose="02020603050405020304"/>
              <a:cs typeface="Times New Roman" panose="02020603050405020304"/>
            </a:endParaRPr>
          </a:p>
          <a:p>
            <a:pPr algn="ctr"/>
            <a:endParaRPr lang="en-US" sz="2200" b="1" dirty="0">
              <a:solidFill>
                <a:srgbClr val="00B0F0"/>
              </a:solidFill>
              <a:latin typeface="Times New Roman" panose="02020603050405020304"/>
              <a:cs typeface="Times New Roman" panose="02020603050405020304"/>
            </a:endParaRPr>
          </a:p>
          <a:p>
            <a:pPr algn="ctr"/>
            <a:endParaRPr lang="en-US" sz="990" b="1" dirty="0">
              <a:solidFill>
                <a:srgbClr val="00B0F0"/>
              </a:solidFill>
              <a:latin typeface="Times New Roman" panose="02020603050405020304"/>
              <a:cs typeface="Times New Roman" panose="02020603050405020304"/>
            </a:endParaRPr>
          </a:p>
          <a:p>
            <a:pPr algn="ctr"/>
            <a:endParaRPr lang="en-US" sz="990" b="1" dirty="0">
              <a:solidFill>
                <a:srgbClr val="00B0F0"/>
              </a:solidFill>
              <a:latin typeface="Times New Roman" panose="02020603050405020304"/>
              <a:cs typeface="Times New Roman" panose="02020603050405020304"/>
            </a:endParaRPr>
          </a:p>
          <a:p>
            <a:pPr algn="ctr"/>
            <a:endParaRPr lang="en-US" sz="990" b="1" dirty="0">
              <a:solidFill>
                <a:srgbClr val="00B0F0"/>
              </a:solidFill>
              <a:latin typeface="Times New Roman" panose="02020603050405020304"/>
              <a:cs typeface="Times New Roman" panose="02020603050405020304"/>
            </a:endParaRPr>
          </a:p>
          <a:p>
            <a:pPr algn="ctr"/>
            <a:endParaRPr lang="en-US" sz="990" b="1" dirty="0">
              <a:solidFill>
                <a:srgbClr val="00B0F0"/>
              </a:solidFill>
              <a:latin typeface="Times New Roman" panose="02020603050405020304"/>
              <a:cs typeface="Times New Roman" panose="02020603050405020304"/>
            </a:endParaRPr>
          </a:p>
          <a:p>
            <a:pPr algn="ctr"/>
            <a:endParaRPr lang="en-US" sz="990" b="1" dirty="0">
              <a:solidFill>
                <a:srgbClr val="00B0F0"/>
              </a:solidFill>
              <a:latin typeface="Times New Roman" panose="02020603050405020304"/>
              <a:cs typeface="Times New Roman" panose="02020603050405020304"/>
            </a:endParaRPr>
          </a:p>
          <a:p>
            <a:pPr algn="ctr"/>
            <a:endParaRPr lang="en-US" sz="990" b="1" dirty="0">
              <a:solidFill>
                <a:srgbClr val="00B0F0"/>
              </a:solidFill>
              <a:latin typeface="Times New Roman" panose="02020603050405020304"/>
              <a:cs typeface="Times New Roman" panose="02020603050405020304"/>
            </a:endParaRPr>
          </a:p>
          <a:p>
            <a:pPr algn="ctr"/>
            <a:endParaRPr lang="en-US" sz="990" b="1" dirty="0">
              <a:solidFill>
                <a:srgbClr val="00B0F0"/>
              </a:solidFill>
              <a:latin typeface="Times New Roman" panose="02020603050405020304"/>
              <a:cs typeface="Times New Roman" panose="02020603050405020304"/>
            </a:endParaRPr>
          </a:p>
          <a:p>
            <a:pPr algn="ctr"/>
            <a:endParaRPr lang="en-US" sz="990" b="1" dirty="0">
              <a:solidFill>
                <a:srgbClr val="00B0F0"/>
              </a:solidFill>
              <a:latin typeface="Times New Roman" panose="02020603050405020304"/>
              <a:cs typeface="Times New Roman" panose="02020603050405020304"/>
            </a:endParaRPr>
          </a:p>
          <a:p>
            <a:pPr algn="ctr"/>
            <a:endParaRPr lang="en-US" sz="990" b="1" dirty="0">
              <a:solidFill>
                <a:srgbClr val="00B0F0"/>
              </a:solidFill>
              <a:latin typeface="Times New Roman" panose="02020603050405020304"/>
              <a:cs typeface="Times New Roman" panose="02020603050405020304"/>
            </a:endParaRPr>
          </a:p>
          <a:p>
            <a:pPr algn="ctr"/>
            <a:endParaRPr lang="en-US" sz="990" b="1" dirty="0">
              <a:solidFill>
                <a:srgbClr val="00B0F0"/>
              </a:solidFill>
              <a:latin typeface="Times New Roman" panose="02020603050405020304"/>
              <a:cs typeface="Times New Roman" panose="02020603050405020304"/>
            </a:endParaRPr>
          </a:p>
          <a:p>
            <a:pPr algn="ctr"/>
            <a:endParaRPr lang="en-US" sz="990" b="1" dirty="0">
              <a:solidFill>
                <a:srgbClr val="00B0F0"/>
              </a:solidFill>
              <a:latin typeface="Times New Roman" panose="02020603050405020304"/>
              <a:cs typeface="Times New Roman" panose="02020603050405020304"/>
            </a:endParaRPr>
          </a:p>
          <a:p>
            <a:pPr algn="ctr"/>
            <a:endParaRPr lang="en-US" sz="990" b="1" dirty="0">
              <a:solidFill>
                <a:srgbClr val="00B0F0"/>
              </a:solidFill>
              <a:latin typeface="Times New Roman" panose="02020603050405020304"/>
              <a:cs typeface="Times New Roman" panose="02020603050405020304"/>
            </a:endParaRPr>
          </a:p>
          <a:p>
            <a:pPr algn="ctr"/>
            <a:endParaRPr lang="en-US" sz="990" b="1" dirty="0">
              <a:solidFill>
                <a:srgbClr val="00B0F0"/>
              </a:solidFill>
              <a:latin typeface="Times New Roman" panose="02020603050405020304"/>
              <a:cs typeface="Times New Roman" panose="02020603050405020304"/>
            </a:endParaRPr>
          </a:p>
          <a:p>
            <a:pPr algn="ctr"/>
            <a:endParaRPr lang="en-US" sz="990" b="1" dirty="0">
              <a:solidFill>
                <a:srgbClr val="00B0F0"/>
              </a:solidFill>
              <a:latin typeface="Times New Roman" panose="02020603050405020304"/>
              <a:cs typeface="Times New Roman" panose="02020603050405020304"/>
            </a:endParaRPr>
          </a:p>
          <a:p>
            <a:pPr algn="ctr"/>
            <a:endParaRPr lang="en-US" sz="990" b="1" dirty="0">
              <a:solidFill>
                <a:srgbClr val="00B0F0"/>
              </a:solidFill>
              <a:latin typeface="Times New Roman" panose="02020603050405020304"/>
              <a:cs typeface="Times New Roman" panose="02020603050405020304"/>
            </a:endParaRPr>
          </a:p>
          <a:p>
            <a:pPr algn="ctr"/>
            <a:endParaRPr lang="en-US" sz="990" b="1" dirty="0">
              <a:solidFill>
                <a:srgbClr val="00B0F0"/>
              </a:solidFill>
              <a:latin typeface="Times New Roman" panose="02020603050405020304"/>
              <a:cs typeface="Times New Roman" panose="02020603050405020304"/>
            </a:endParaRPr>
          </a:p>
          <a:p>
            <a:pPr algn="ctr"/>
            <a:endParaRPr lang="en-US" sz="990" b="1" dirty="0">
              <a:solidFill>
                <a:srgbClr val="00B0F0"/>
              </a:solidFill>
              <a:latin typeface="Times New Roman" panose="02020603050405020304"/>
              <a:cs typeface="Times New Roman" panose="02020603050405020304"/>
            </a:endParaRPr>
          </a:p>
          <a:p>
            <a:pPr algn="ctr"/>
            <a:endParaRPr lang="en-US" sz="990" b="1" dirty="0">
              <a:solidFill>
                <a:srgbClr val="00B0F0"/>
              </a:solidFill>
              <a:latin typeface="Times New Roman" panose="02020603050405020304"/>
              <a:cs typeface="Times New Roman" panose="02020603050405020304"/>
            </a:endParaRPr>
          </a:p>
          <a:p>
            <a:pPr algn="ctr"/>
            <a:endParaRPr lang="en-US" sz="990" b="1" dirty="0">
              <a:solidFill>
                <a:srgbClr val="00B0F0"/>
              </a:solidFill>
              <a:latin typeface="Times New Roman" panose="02020603050405020304"/>
              <a:cs typeface="Times New Roman" panose="02020603050405020304"/>
            </a:endParaRPr>
          </a:p>
          <a:p>
            <a:pPr algn="ctr"/>
            <a:endParaRPr lang="en-US" sz="990" b="1" dirty="0">
              <a:solidFill>
                <a:srgbClr val="00B0F0"/>
              </a:solidFill>
              <a:latin typeface="Times New Roman" panose="02020603050405020304"/>
              <a:cs typeface="Times New Roman" panose="02020603050405020304"/>
            </a:endParaRPr>
          </a:p>
          <a:p>
            <a:pPr algn="ctr"/>
            <a:endParaRPr lang="en-US" sz="990" b="1" dirty="0">
              <a:solidFill>
                <a:srgbClr val="00B0F0"/>
              </a:solidFill>
              <a:latin typeface="Times New Roman" panose="02020603050405020304"/>
              <a:cs typeface="Times New Roman" panose="02020603050405020304"/>
            </a:endParaRPr>
          </a:p>
          <a:p>
            <a:pPr algn="ctr"/>
            <a:endParaRPr lang="en-US" sz="990" b="1" dirty="0">
              <a:solidFill>
                <a:srgbClr val="00B0F0"/>
              </a:solidFill>
              <a:latin typeface="Times New Roman" panose="02020603050405020304"/>
              <a:cs typeface="Times New Roman" panose="02020603050405020304"/>
            </a:endParaRPr>
          </a:p>
          <a:p>
            <a:pPr algn="ctr"/>
            <a:endParaRPr lang="en-US" sz="990" b="1" dirty="0">
              <a:solidFill>
                <a:srgbClr val="00B0F0"/>
              </a:solidFill>
              <a:latin typeface="Times New Roman" panose="02020603050405020304"/>
              <a:cs typeface="Times New Roman" panose="02020603050405020304"/>
            </a:endParaRPr>
          </a:p>
          <a:p>
            <a:pPr algn="ctr"/>
            <a:endParaRPr lang="en-US" sz="990" b="1" dirty="0">
              <a:solidFill>
                <a:srgbClr val="00B0F0"/>
              </a:solidFill>
              <a:latin typeface="Times New Roman" panose="02020603050405020304"/>
              <a:cs typeface="Times New Roman" panose="02020603050405020304"/>
            </a:endParaRPr>
          </a:p>
          <a:p>
            <a:pPr algn="ctr"/>
            <a:endParaRPr lang="en-US" sz="990" b="1" dirty="0">
              <a:solidFill>
                <a:srgbClr val="00B0F0"/>
              </a:solidFill>
              <a:latin typeface="Times New Roman" panose="02020603050405020304"/>
              <a:cs typeface="Times New Roman" panose="02020603050405020304"/>
            </a:endParaRPr>
          </a:p>
          <a:p>
            <a:pPr algn="ctr"/>
            <a:endParaRPr lang="en-US" sz="990" b="1" dirty="0">
              <a:solidFill>
                <a:srgbClr val="00B0F0"/>
              </a:solidFill>
              <a:latin typeface="Times New Roman" panose="02020603050405020304"/>
              <a:cs typeface="Times New Roman" panose="02020603050405020304"/>
            </a:endParaRPr>
          </a:p>
          <a:p>
            <a:pPr algn="ctr"/>
            <a:endParaRPr lang="en-US" sz="990" b="1" dirty="0">
              <a:solidFill>
                <a:srgbClr val="00B0F0"/>
              </a:solidFill>
              <a:latin typeface="Times New Roman" panose="02020603050405020304"/>
              <a:cs typeface="Times New Roman" panose="02020603050405020304"/>
            </a:endParaRPr>
          </a:p>
          <a:p>
            <a:pPr algn="ctr"/>
            <a:endParaRPr lang="en-US" sz="990" b="1" dirty="0">
              <a:solidFill>
                <a:srgbClr val="00B0F0"/>
              </a:solidFill>
              <a:latin typeface="Times New Roman" panose="02020603050405020304"/>
              <a:cs typeface="Times New Roman" panose="02020603050405020304"/>
            </a:endParaRPr>
          </a:p>
          <a:p>
            <a:pPr algn="ctr"/>
            <a:endParaRPr lang="en-US" sz="990" b="1" dirty="0">
              <a:solidFill>
                <a:srgbClr val="00B0F0"/>
              </a:solidFill>
              <a:latin typeface="Times New Roman" panose="02020603050405020304"/>
              <a:cs typeface="Times New Roman" panose="02020603050405020304"/>
            </a:endParaRPr>
          </a:p>
          <a:p>
            <a:pPr algn="ctr"/>
            <a:endParaRPr lang="en-IN" sz="990" dirty="0"/>
          </a:p>
        </p:txBody>
      </p:sp>
      <p:sp>
        <p:nvSpPr>
          <p:cNvPr id="4" name="TextBox 10">
            <a:extLst>
              <a:ext uri="{FF2B5EF4-FFF2-40B4-BE49-F238E27FC236}">
                <a16:creationId xmlns:a16="http://schemas.microsoft.com/office/drawing/2014/main" id="{3FD1966F-E0A7-9BFD-DEFA-5CEA1D2934FE}"/>
              </a:ext>
            </a:extLst>
          </p:cNvPr>
          <p:cNvSpPr txBox="1"/>
          <p:nvPr/>
        </p:nvSpPr>
        <p:spPr>
          <a:xfrm>
            <a:off x="4777540" y="4434244"/>
            <a:ext cx="3277960" cy="881780"/>
          </a:xfrm>
          <a:prstGeom prst="rect">
            <a:avLst/>
          </a:prstGeom>
          <a:noFill/>
        </p:spPr>
        <p:txBody>
          <a:bodyPr rot="0" spcFirstLastPara="0" vert="horz" wrap="square" lIns="50292" tIns="25146" rIns="50292" bIns="25146" numCol="1" spcCol="0" rtlCol="0" fromWordArt="0" anchor="t" anchorCtr="0" forceAA="0" compatLnSpc="1">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dirty="0">
                <a:solidFill>
                  <a:srgbClr val="7030A0"/>
                </a:solidFill>
                <a:latin typeface="Times New Roman" panose="02020603050405020304"/>
                <a:cs typeface="Segoe UI" panose="020B0502040204020203"/>
              </a:rPr>
              <a:t>Project Supervisor:</a:t>
            </a:r>
            <a:r>
              <a:rPr lang="en-US" b="1" dirty="0">
                <a:latin typeface="Times New Roman" panose="02020603050405020304"/>
                <a:cs typeface="Segoe UI" panose="020B0502040204020203"/>
              </a:rPr>
              <a:t>​</a:t>
            </a:r>
          </a:p>
          <a:p>
            <a:r>
              <a:rPr lang="en-US" b="1" dirty="0">
                <a:solidFill>
                  <a:srgbClr val="002060"/>
                </a:solidFill>
                <a:latin typeface="Times New Roman" panose="02020603050405020304"/>
                <a:cs typeface="Segoe UI" panose="020B0502040204020203"/>
              </a:rPr>
              <a:t>Name</a:t>
            </a:r>
            <a:r>
              <a:rPr lang="en-US" dirty="0">
                <a:solidFill>
                  <a:srgbClr val="002060"/>
                </a:solidFill>
                <a:latin typeface="Times New Roman" panose="02020603050405020304"/>
                <a:cs typeface="Segoe UI" panose="020B0502040204020203"/>
              </a:rPr>
              <a:t>:</a:t>
            </a:r>
            <a:r>
              <a:rPr lang="en-US" dirty="0">
                <a:latin typeface="Times New Roman" panose="02020603050405020304"/>
                <a:cs typeface="Segoe UI" panose="020B0502040204020203"/>
              </a:rPr>
              <a:t>​M.Sivajyothi</a:t>
            </a:r>
          </a:p>
          <a:p>
            <a:r>
              <a:rPr lang="en-US" b="1" dirty="0">
                <a:solidFill>
                  <a:srgbClr val="002060"/>
                </a:solidFill>
                <a:latin typeface="Times New Roman" panose="02020603050405020304"/>
                <a:cs typeface="Segoe UI" panose="020B0502040204020203"/>
              </a:rPr>
              <a:t>Designation</a:t>
            </a:r>
            <a:r>
              <a:rPr lang="en-US" dirty="0">
                <a:solidFill>
                  <a:srgbClr val="002060"/>
                </a:solidFill>
                <a:latin typeface="Times New Roman" panose="02020603050405020304"/>
                <a:cs typeface="Segoe UI" panose="020B0502040204020203"/>
              </a:rPr>
              <a:t>: Assistant Professor</a:t>
            </a:r>
            <a:endParaRPr lang="en-IN" dirty="0">
              <a:latin typeface="Times New Roman" panose="02020603050405020304"/>
              <a:cs typeface="Segoe UI" panose="020B0502040204020203"/>
            </a:endParaRPr>
          </a:p>
        </p:txBody>
      </p:sp>
      <p:sp>
        <p:nvSpPr>
          <p:cNvPr id="5" name="TextBox 1">
            <a:extLst>
              <a:ext uri="{FF2B5EF4-FFF2-40B4-BE49-F238E27FC236}">
                <a16:creationId xmlns:a16="http://schemas.microsoft.com/office/drawing/2014/main" id="{76FB3848-EF97-1048-1710-716C72D8EA38}"/>
              </a:ext>
            </a:extLst>
          </p:cNvPr>
          <p:cNvSpPr txBox="1"/>
          <p:nvPr/>
        </p:nvSpPr>
        <p:spPr>
          <a:xfrm>
            <a:off x="4777540" y="5538758"/>
            <a:ext cx="5666832" cy="1681999"/>
          </a:xfrm>
          <a:prstGeom prst="rect">
            <a:avLst/>
          </a:prstGeom>
          <a:noFill/>
        </p:spPr>
        <p:txBody>
          <a:bodyPr rot="0" spcFirstLastPara="0" vert="horz" wrap="square" lIns="50292" tIns="25146" rIns="50292" bIns="25146" numCol="1" spcCol="0" rtlCol="0" fromWordArt="0" anchor="t" anchorCtr="0" forceAA="0" compatLnSpc="1">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dirty="0">
                <a:solidFill>
                  <a:srgbClr val="7030A0"/>
                </a:solidFill>
                <a:latin typeface="Times New Roman" panose="02020603050405020304"/>
                <a:cs typeface="Segoe UI" panose="020B0502040204020203"/>
              </a:rPr>
              <a:t>Presented By:​</a:t>
            </a:r>
          </a:p>
          <a:p>
            <a:r>
              <a:rPr lang="en-US" dirty="0">
                <a:latin typeface="Times New Roman" panose="02020603050405020304"/>
                <a:cs typeface="Segoe UI" panose="020B0502040204020203"/>
              </a:rPr>
              <a:t>Batch No: 4</a:t>
            </a:r>
          </a:p>
          <a:p>
            <a:pPr marL="188595" indent="-188595"/>
            <a:r>
              <a:rPr lang="en-US" dirty="0">
                <a:latin typeface="Times New Roman" panose="02020603050405020304"/>
                <a:cs typeface="Arial" panose="020B0604020202020204"/>
              </a:rPr>
              <a:t>1)H. No: 227R1A1220        Name:G.PRANEETHA</a:t>
            </a:r>
          </a:p>
          <a:p>
            <a:pPr marL="188595" indent="-188595"/>
            <a:r>
              <a:rPr lang="en-US" dirty="0">
                <a:latin typeface="Times New Roman" panose="02020603050405020304"/>
                <a:cs typeface="Arial" panose="020B0604020202020204"/>
              </a:rPr>
              <a:t>2)H. No: 227R1A1212        Name:CH.SRIDHAR </a:t>
            </a:r>
          </a:p>
          <a:p>
            <a:pPr marL="188595" indent="-188595"/>
            <a:r>
              <a:rPr lang="en-US" dirty="0">
                <a:latin typeface="Times New Roman" panose="02020603050405020304"/>
                <a:cs typeface="Arial" panose="020B0604020202020204"/>
              </a:rPr>
              <a:t>3)H. No: </a:t>
            </a:r>
            <a:r>
              <a:rPr lang="en-US" dirty="0">
                <a:latin typeface="Times New Roman" panose="02020603050405020304" pitchFamily="18" charset="0"/>
                <a:cs typeface="Times New Roman" panose="02020603050405020304" pitchFamily="18" charset="0"/>
              </a:rPr>
              <a:t>227R1A1260</a:t>
            </a:r>
            <a:r>
              <a:rPr lang="en-US" dirty="0">
                <a:latin typeface="Times New Roman" panose="02020603050405020304"/>
                <a:cs typeface="Arial" panose="020B0604020202020204"/>
              </a:rPr>
              <a:t>        Name:V.VAMSHI</a:t>
            </a:r>
          </a:p>
          <a:p>
            <a:r>
              <a:rPr lang="en-US" sz="1600" dirty="0">
                <a:latin typeface="Times New Roman" panose="02020603050405020304"/>
                <a:cs typeface="Segoe UI" panose="020B0502040204020203"/>
              </a:rPr>
              <a:t>​</a:t>
            </a:r>
          </a:p>
        </p:txBody>
      </p:sp>
      <p:pic>
        <p:nvPicPr>
          <p:cNvPr id="6" name="Picture 5">
            <a:extLst>
              <a:ext uri="{FF2B5EF4-FFF2-40B4-BE49-F238E27FC236}">
                <a16:creationId xmlns:a16="http://schemas.microsoft.com/office/drawing/2014/main" id="{72306119-A599-33C3-0B4B-C168C48209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2807" y="1859164"/>
            <a:ext cx="3735740" cy="5600875"/>
          </a:xfrm>
          <a:prstGeom prst="rect">
            <a:avLst/>
          </a:prstGeom>
        </p:spPr>
      </p:pic>
    </p:spTree>
    <p:extLst>
      <p:ext uri="{BB962C8B-B14F-4D97-AF65-F5344CB8AC3E}">
        <p14:creationId xmlns:p14="http://schemas.microsoft.com/office/powerpoint/2010/main" val="28011742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52800" y="685800"/>
            <a:ext cx="2378034" cy="505267"/>
          </a:xfrm>
          <a:prstGeom prst="rect">
            <a:avLst/>
          </a:prstGeom>
        </p:spPr>
        <p:txBody>
          <a:bodyPr vert="horz" wrap="square" lIns="0" tIns="12700" rIns="0" bIns="0" rtlCol="0">
            <a:spAutoFit/>
          </a:bodyPr>
          <a:lstStyle/>
          <a:p>
            <a:pPr marL="12700">
              <a:lnSpc>
                <a:spcPct val="100000"/>
              </a:lnSpc>
              <a:spcBef>
                <a:spcPts val="100"/>
              </a:spcBef>
            </a:pPr>
            <a:r>
              <a:rPr sz="3200" b="1" spc="-200" dirty="0">
                <a:solidFill>
                  <a:srgbClr val="7030A0"/>
                </a:solidFill>
                <a:latin typeface="Times New Roman" panose="02020603050405020304"/>
                <a:cs typeface="Times New Roman" panose="02020603050405020304"/>
              </a:rPr>
              <a:t>CONTENTS</a:t>
            </a:r>
            <a:endParaRPr sz="3200" b="1" dirty="0">
              <a:solidFill>
                <a:srgbClr val="7030A0"/>
              </a:solidFill>
              <a:latin typeface="Times New Roman" panose="02020603050405020304"/>
              <a:cs typeface="Times New Roman" panose="02020603050405020304"/>
            </a:endParaRPr>
          </a:p>
        </p:txBody>
      </p:sp>
      <p:sp>
        <p:nvSpPr>
          <p:cNvPr id="3" name="object 3"/>
          <p:cNvSpPr txBox="1"/>
          <p:nvPr/>
        </p:nvSpPr>
        <p:spPr>
          <a:xfrm>
            <a:off x="1333561" y="1191067"/>
            <a:ext cx="6416511" cy="6605013"/>
          </a:xfrm>
          <a:prstGeom prst="rect">
            <a:avLst/>
          </a:prstGeom>
        </p:spPr>
        <p:txBody>
          <a:bodyPr vert="horz" wrap="square" lIns="0" tIns="117475" rIns="0" bIns="0" rtlCol="0">
            <a:spAutoFit/>
          </a:bodyPr>
          <a:lstStyle/>
          <a:p>
            <a:pPr marL="295275" indent="-282575">
              <a:lnSpc>
                <a:spcPct val="100000"/>
              </a:lnSpc>
              <a:spcBef>
                <a:spcPts val="830"/>
              </a:spcBef>
              <a:buClr>
                <a:srgbClr val="5ECAEF"/>
              </a:buClr>
              <a:buSzPct val="79000"/>
              <a:buFont typeface="Wingdings" panose="05000000000000000000"/>
              <a:buChar char=""/>
              <a:tabLst>
                <a:tab pos="295275" algn="l"/>
              </a:tabLst>
            </a:pPr>
            <a:r>
              <a:rPr sz="2000" b="1" spc="-10" dirty="0">
                <a:latin typeface="Times New Roman" panose="02020603050405020304" pitchFamily="18" charset="0"/>
                <a:cs typeface="Times New Roman" panose="02020603050405020304" pitchFamily="18" charset="0"/>
              </a:rPr>
              <a:t>Introduction</a:t>
            </a:r>
            <a:r>
              <a:rPr lang="en-IN" sz="2000" b="1" spc="-10" dirty="0">
                <a:latin typeface="Times New Roman" panose="02020603050405020304" pitchFamily="18" charset="0"/>
                <a:cs typeface="Times New Roman" panose="02020603050405020304" pitchFamily="18" charset="0"/>
              </a:rPr>
              <a:t> &amp; Overview</a:t>
            </a:r>
          </a:p>
          <a:p>
            <a:pPr marL="295275" indent="-282575">
              <a:lnSpc>
                <a:spcPct val="100000"/>
              </a:lnSpc>
              <a:spcBef>
                <a:spcPts val="830"/>
              </a:spcBef>
              <a:buClr>
                <a:srgbClr val="5ECAEF"/>
              </a:buClr>
              <a:buSzPct val="79000"/>
              <a:buFont typeface="Wingdings" panose="05000000000000000000"/>
              <a:buChar char=""/>
              <a:tabLst>
                <a:tab pos="295275" algn="l"/>
              </a:tabLst>
            </a:pPr>
            <a:r>
              <a:rPr lang="en-IN" sz="2000" b="1" spc="-10" dirty="0">
                <a:latin typeface="Times New Roman" panose="02020603050405020304" pitchFamily="18" charset="0"/>
                <a:cs typeface="Times New Roman" panose="02020603050405020304" pitchFamily="18" charset="0"/>
              </a:rPr>
              <a:t>Existing System</a:t>
            </a:r>
          </a:p>
          <a:p>
            <a:pPr marL="295275" indent="-282575">
              <a:lnSpc>
                <a:spcPct val="100000"/>
              </a:lnSpc>
              <a:spcBef>
                <a:spcPts val="830"/>
              </a:spcBef>
              <a:buClr>
                <a:srgbClr val="5ECAEF"/>
              </a:buClr>
              <a:buSzPct val="79000"/>
              <a:buFont typeface="Wingdings" panose="05000000000000000000"/>
              <a:buChar char=""/>
              <a:tabLst>
                <a:tab pos="295275" algn="l"/>
              </a:tabLst>
            </a:pPr>
            <a:r>
              <a:rPr lang="en-IN" sz="2000" b="1" spc="-10" dirty="0">
                <a:latin typeface="Times New Roman" panose="02020603050405020304" pitchFamily="18" charset="0"/>
                <a:cs typeface="Times New Roman" panose="02020603050405020304" pitchFamily="18" charset="0"/>
              </a:rPr>
              <a:t>Disadvantages</a:t>
            </a:r>
            <a:endParaRPr sz="2000" b="1" dirty="0">
              <a:latin typeface="Times New Roman" panose="02020603050405020304" pitchFamily="18" charset="0"/>
              <a:cs typeface="Times New Roman" panose="02020603050405020304" pitchFamily="18" charset="0"/>
            </a:endParaRPr>
          </a:p>
          <a:p>
            <a:pPr marL="295275" indent="-282575">
              <a:lnSpc>
                <a:spcPct val="100000"/>
              </a:lnSpc>
              <a:spcBef>
                <a:spcPts val="815"/>
              </a:spcBef>
              <a:buClr>
                <a:srgbClr val="5ECAEF"/>
              </a:buClr>
              <a:buSzPct val="79000"/>
              <a:buFont typeface="Wingdings" panose="05000000000000000000"/>
              <a:buChar char=""/>
              <a:tabLst>
                <a:tab pos="295275" algn="l"/>
              </a:tabLst>
            </a:pPr>
            <a:r>
              <a:rPr sz="2000" b="1" spc="-10" dirty="0">
                <a:latin typeface="Times New Roman" panose="02020603050405020304" pitchFamily="18" charset="0"/>
                <a:cs typeface="Times New Roman" panose="02020603050405020304" pitchFamily="18" charset="0"/>
              </a:rPr>
              <a:t>Proposed</a:t>
            </a:r>
            <a:r>
              <a:rPr sz="2000" b="1" spc="-105" dirty="0">
                <a:latin typeface="Times New Roman" panose="02020603050405020304" pitchFamily="18" charset="0"/>
                <a:cs typeface="Times New Roman" panose="02020603050405020304" pitchFamily="18" charset="0"/>
              </a:rPr>
              <a:t> </a:t>
            </a:r>
            <a:r>
              <a:rPr sz="2000" b="1" spc="-10" dirty="0">
                <a:latin typeface="Times New Roman" panose="02020603050405020304" pitchFamily="18" charset="0"/>
                <a:cs typeface="Times New Roman" panose="02020603050405020304" pitchFamily="18" charset="0"/>
              </a:rPr>
              <a:t>System</a:t>
            </a:r>
            <a:endParaRPr lang="en-IN" sz="2000" b="1" spc="-10" dirty="0">
              <a:latin typeface="Times New Roman" panose="02020603050405020304" pitchFamily="18" charset="0"/>
              <a:cs typeface="Times New Roman" panose="02020603050405020304" pitchFamily="18" charset="0"/>
            </a:endParaRPr>
          </a:p>
          <a:p>
            <a:pPr marL="295275" indent="-282575">
              <a:lnSpc>
                <a:spcPct val="100000"/>
              </a:lnSpc>
              <a:spcBef>
                <a:spcPts val="815"/>
              </a:spcBef>
              <a:buClr>
                <a:srgbClr val="5ECAEF"/>
              </a:buClr>
              <a:buSzPct val="79000"/>
              <a:buFont typeface="Wingdings" panose="05000000000000000000"/>
              <a:buChar char=""/>
              <a:tabLst>
                <a:tab pos="295275" algn="l"/>
              </a:tabLst>
            </a:pPr>
            <a:r>
              <a:rPr lang="en-IN" sz="2000" b="1" spc="-10" dirty="0">
                <a:latin typeface="Times New Roman" panose="02020603050405020304" pitchFamily="18" charset="0"/>
                <a:cs typeface="Times New Roman" panose="02020603050405020304" pitchFamily="18" charset="0"/>
              </a:rPr>
              <a:t>Advantages</a:t>
            </a:r>
          </a:p>
          <a:p>
            <a:pPr marL="295275" indent="-282575">
              <a:lnSpc>
                <a:spcPct val="100000"/>
              </a:lnSpc>
              <a:spcBef>
                <a:spcPts val="815"/>
              </a:spcBef>
              <a:buClr>
                <a:srgbClr val="5ECAEF"/>
              </a:buClr>
              <a:buSzPct val="79000"/>
              <a:buFont typeface="Wingdings" panose="05000000000000000000"/>
              <a:buChar char=""/>
              <a:tabLst>
                <a:tab pos="295275" algn="l"/>
              </a:tabLst>
            </a:pPr>
            <a:r>
              <a:rPr lang="en-IN" sz="2000" b="1" spc="-10" dirty="0">
                <a:latin typeface="Times New Roman" panose="02020603050405020304" pitchFamily="18" charset="0"/>
                <a:cs typeface="Times New Roman" panose="02020603050405020304" pitchFamily="18" charset="0"/>
              </a:rPr>
              <a:t>Software and Hardware Requirements</a:t>
            </a:r>
          </a:p>
          <a:p>
            <a:pPr marL="295275" indent="-282575">
              <a:lnSpc>
                <a:spcPct val="100000"/>
              </a:lnSpc>
              <a:spcBef>
                <a:spcPts val="815"/>
              </a:spcBef>
              <a:buClr>
                <a:srgbClr val="5ECAEF"/>
              </a:buClr>
              <a:buSzPct val="79000"/>
              <a:buFont typeface="Wingdings" panose="05000000000000000000"/>
              <a:buChar char=""/>
              <a:tabLst>
                <a:tab pos="295275" algn="l"/>
              </a:tabLst>
            </a:pPr>
            <a:r>
              <a:rPr lang="en-IN" sz="2000" b="1" spc="-10" dirty="0">
                <a:latin typeface="Times New Roman" panose="02020603050405020304" pitchFamily="18" charset="0"/>
                <a:cs typeface="Times New Roman" panose="02020603050405020304" pitchFamily="18" charset="0"/>
              </a:rPr>
              <a:t>Novelty of the project</a:t>
            </a:r>
          </a:p>
          <a:p>
            <a:pPr marL="295275" indent="-282575">
              <a:lnSpc>
                <a:spcPct val="100000"/>
              </a:lnSpc>
              <a:spcBef>
                <a:spcPts val="815"/>
              </a:spcBef>
              <a:buClr>
                <a:srgbClr val="5ECAEF"/>
              </a:buClr>
              <a:buSzPct val="79000"/>
              <a:buFont typeface="Wingdings" panose="05000000000000000000"/>
              <a:buChar char=""/>
              <a:tabLst>
                <a:tab pos="295275" algn="l"/>
              </a:tabLst>
            </a:pPr>
            <a:r>
              <a:rPr lang="en-IN" sz="2000" b="1" spc="-10" dirty="0">
                <a:latin typeface="Times New Roman" panose="02020603050405020304" pitchFamily="18" charset="0"/>
                <a:cs typeface="Times New Roman" panose="02020603050405020304" pitchFamily="18" charset="0"/>
              </a:rPr>
              <a:t>Architecture</a:t>
            </a:r>
          </a:p>
          <a:p>
            <a:pPr marL="295275" indent="-282575">
              <a:lnSpc>
                <a:spcPct val="100000"/>
              </a:lnSpc>
              <a:spcBef>
                <a:spcPts val="815"/>
              </a:spcBef>
              <a:buClr>
                <a:srgbClr val="5ECAEF"/>
              </a:buClr>
              <a:buSzPct val="79000"/>
              <a:buFont typeface="Wingdings" panose="05000000000000000000"/>
              <a:buChar char=""/>
              <a:tabLst>
                <a:tab pos="295275" algn="l"/>
              </a:tabLst>
            </a:pPr>
            <a:r>
              <a:rPr lang="en-IN" sz="2000" b="1" spc="-10" dirty="0">
                <a:latin typeface="Times New Roman" panose="02020603050405020304" pitchFamily="18" charset="0"/>
                <a:cs typeface="Times New Roman" panose="02020603050405020304" pitchFamily="18" charset="0"/>
              </a:rPr>
              <a:t>Modules</a:t>
            </a:r>
          </a:p>
          <a:p>
            <a:pPr marL="295275" indent="-282575">
              <a:lnSpc>
                <a:spcPct val="100000"/>
              </a:lnSpc>
              <a:spcBef>
                <a:spcPts val="815"/>
              </a:spcBef>
              <a:buClr>
                <a:srgbClr val="5ECAEF"/>
              </a:buClr>
              <a:buSzPct val="79000"/>
              <a:buFont typeface="Wingdings" panose="05000000000000000000"/>
              <a:buChar char=""/>
              <a:tabLst>
                <a:tab pos="295275" algn="l"/>
              </a:tabLst>
            </a:pPr>
            <a:r>
              <a:rPr lang="en-IN" sz="2000" b="1" spc="-10" dirty="0">
                <a:latin typeface="Times New Roman" panose="02020603050405020304" pitchFamily="18" charset="0"/>
                <a:cs typeface="Times New Roman" panose="02020603050405020304" pitchFamily="18" charset="0"/>
              </a:rPr>
              <a:t>UML Diagrams</a:t>
            </a:r>
          </a:p>
          <a:p>
            <a:pPr marL="295275" indent="-282575">
              <a:lnSpc>
                <a:spcPct val="100000"/>
              </a:lnSpc>
              <a:spcBef>
                <a:spcPts val="815"/>
              </a:spcBef>
              <a:buClr>
                <a:srgbClr val="5ECAEF"/>
              </a:buClr>
              <a:buSzPct val="79000"/>
              <a:buFont typeface="Wingdings" panose="05000000000000000000"/>
              <a:buChar char=""/>
              <a:tabLst>
                <a:tab pos="295275" algn="l"/>
              </a:tabLst>
            </a:pPr>
            <a:r>
              <a:rPr lang="en-IN" sz="2000" b="1" spc="-10" dirty="0">
                <a:latin typeface="Times New Roman" panose="02020603050405020304" pitchFamily="18" charset="0"/>
                <a:cs typeface="Times New Roman" panose="02020603050405020304" pitchFamily="18" charset="0"/>
              </a:rPr>
              <a:t>Source Code</a:t>
            </a:r>
          </a:p>
          <a:p>
            <a:pPr marL="295275" indent="-282575">
              <a:lnSpc>
                <a:spcPct val="100000"/>
              </a:lnSpc>
              <a:spcBef>
                <a:spcPts val="815"/>
              </a:spcBef>
              <a:buClr>
                <a:srgbClr val="5ECAEF"/>
              </a:buClr>
              <a:buSzPct val="79000"/>
              <a:buFont typeface="Wingdings" panose="05000000000000000000"/>
              <a:buChar char=""/>
              <a:tabLst>
                <a:tab pos="295275" algn="l"/>
              </a:tabLst>
            </a:pPr>
            <a:r>
              <a:rPr lang="en-IN" sz="2000" b="1" spc="-10" dirty="0">
                <a:latin typeface="Times New Roman" panose="02020603050405020304" pitchFamily="18" charset="0"/>
                <a:cs typeface="Times New Roman" panose="02020603050405020304" pitchFamily="18" charset="0"/>
              </a:rPr>
              <a:t>Results</a:t>
            </a:r>
          </a:p>
          <a:p>
            <a:pPr marL="295275" indent="-282575">
              <a:lnSpc>
                <a:spcPct val="100000"/>
              </a:lnSpc>
              <a:spcBef>
                <a:spcPts val="815"/>
              </a:spcBef>
              <a:buClr>
                <a:srgbClr val="5ECAEF"/>
              </a:buClr>
              <a:buSzPct val="79000"/>
              <a:buFont typeface="Wingdings" panose="05000000000000000000"/>
              <a:buChar char=""/>
              <a:tabLst>
                <a:tab pos="295275" algn="l"/>
              </a:tabLst>
            </a:pPr>
            <a:r>
              <a:rPr lang="en-IN" sz="2000" b="1" spc="-10" dirty="0">
                <a:latin typeface="Times New Roman" panose="02020603050405020304" pitchFamily="18" charset="0"/>
                <a:cs typeface="Times New Roman" panose="02020603050405020304" pitchFamily="18" charset="0"/>
              </a:rPr>
              <a:t>Conclusion &amp; Future Enhancement</a:t>
            </a:r>
          </a:p>
          <a:p>
            <a:pPr marL="295275" indent="-282575">
              <a:lnSpc>
                <a:spcPct val="100000"/>
              </a:lnSpc>
              <a:spcBef>
                <a:spcPts val="815"/>
              </a:spcBef>
              <a:buClr>
                <a:srgbClr val="5ECAEF"/>
              </a:buClr>
              <a:buSzPct val="79000"/>
              <a:buFont typeface="Wingdings" panose="05000000000000000000"/>
              <a:buChar char=""/>
              <a:tabLst>
                <a:tab pos="295275" algn="l"/>
              </a:tabLst>
            </a:pPr>
            <a:r>
              <a:rPr lang="en-IN" sz="2000" b="1" spc="-10" dirty="0">
                <a:latin typeface="Times New Roman" panose="02020603050405020304" pitchFamily="18" charset="0"/>
                <a:cs typeface="Times New Roman" panose="02020603050405020304" pitchFamily="18" charset="0"/>
              </a:rPr>
              <a:t>References</a:t>
            </a:r>
          </a:p>
          <a:p>
            <a:pPr marL="295275" indent="-282575">
              <a:lnSpc>
                <a:spcPct val="100000"/>
              </a:lnSpc>
              <a:spcBef>
                <a:spcPts val="815"/>
              </a:spcBef>
              <a:buClr>
                <a:srgbClr val="5ECAEF"/>
              </a:buClr>
              <a:buSzPct val="79000"/>
              <a:buFont typeface="Wingdings" panose="05000000000000000000"/>
              <a:buChar char=""/>
              <a:tabLst>
                <a:tab pos="295275" algn="l"/>
              </a:tabLst>
            </a:pPr>
            <a:r>
              <a:rPr lang="en-IN" sz="2000" b="1" spc="-10" dirty="0">
                <a:latin typeface="Times New Roman" panose="02020603050405020304" pitchFamily="18" charset="0"/>
                <a:cs typeface="Times New Roman" panose="02020603050405020304" pitchFamily="18" charset="0"/>
              </a:rPr>
              <a:t>GitHub Link</a:t>
            </a:r>
            <a:endParaRPr sz="2000" b="1" dirty="0">
              <a:latin typeface="Times New Roman" panose="02020603050405020304" pitchFamily="18" charset="0"/>
              <a:cs typeface="Times New Roman" panose="02020603050405020304" pitchFamily="18" charset="0"/>
            </a:endParaRPr>
          </a:p>
          <a:p>
            <a:pPr marL="12700">
              <a:lnSpc>
                <a:spcPct val="100000"/>
              </a:lnSpc>
              <a:spcBef>
                <a:spcPts val="830"/>
              </a:spcBef>
              <a:buClr>
                <a:srgbClr val="5ECAEF"/>
              </a:buClr>
              <a:buSzPct val="79000"/>
              <a:tabLst>
                <a:tab pos="295275" algn="l"/>
              </a:tabLst>
            </a:pPr>
            <a:endParaRPr sz="2150" b="1" dirty="0">
              <a:latin typeface="Times New Roman" panose="02020603050405020304" pitchFamily="18" charset="0"/>
              <a:cs typeface="Times New Roman" panose="02020603050405020304" pitchFamily="18" charset="0"/>
            </a:endParaRPr>
          </a:p>
        </p:txBody>
      </p:sp>
      <p:pic>
        <p:nvPicPr>
          <p:cNvPr id="4" name="Picture 3" descr="A logo with a flower&#10;&#10;Description automatically generated">
            <a:extLst>
              <a:ext uri="{FF2B5EF4-FFF2-40B4-BE49-F238E27FC236}">
                <a16:creationId xmlns:a16="http://schemas.microsoft.com/office/drawing/2014/main" id="{FFDC170D-0C71-0077-8B0F-60DECEC33FFF}"/>
              </a:ext>
            </a:extLst>
          </p:cNvPr>
          <p:cNvPicPr>
            <a:picLocks noChangeAspect="1"/>
          </p:cNvPicPr>
          <p:nvPr/>
        </p:nvPicPr>
        <p:blipFill>
          <a:blip r:embed="rId2"/>
          <a:stretch>
            <a:fillRect/>
          </a:stretch>
        </p:blipFill>
        <p:spPr>
          <a:xfrm>
            <a:off x="8001000" y="226681"/>
            <a:ext cx="1800574" cy="156128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62000" y="685800"/>
            <a:ext cx="9677400" cy="736191"/>
          </a:xfrm>
          <a:prstGeom prst="rect">
            <a:avLst/>
          </a:prstGeom>
        </p:spPr>
        <p:txBody>
          <a:bodyPr vert="horz" wrap="square" lIns="0" tIns="241391" rIns="0" bIns="0" rtlCol="0">
            <a:spAutoFit/>
          </a:bodyPr>
          <a:lstStyle/>
          <a:p>
            <a:pPr marL="2865120">
              <a:lnSpc>
                <a:spcPct val="100000"/>
              </a:lnSpc>
              <a:spcBef>
                <a:spcPts val="125"/>
              </a:spcBef>
            </a:pPr>
            <a:r>
              <a:rPr lang="en-IN" sz="3200" b="1" spc="-30" dirty="0">
                <a:solidFill>
                  <a:srgbClr val="7030A0"/>
                </a:solidFill>
                <a:latin typeface="Times New Roman" panose="02020603050405020304"/>
                <a:cs typeface="Times New Roman" panose="02020603050405020304"/>
              </a:rPr>
              <a:t>INTRODUCTION &amp; OVERVIEW</a:t>
            </a:r>
            <a:endParaRPr sz="3200" b="1" spc="-30" dirty="0">
              <a:solidFill>
                <a:srgbClr val="7030A0"/>
              </a:solidFill>
              <a:latin typeface="Times New Roman" panose="02020603050405020304"/>
              <a:cs typeface="Times New Roman" panose="02020603050405020304"/>
            </a:endParaRPr>
          </a:p>
        </p:txBody>
      </p:sp>
      <p:sp>
        <p:nvSpPr>
          <p:cNvPr id="3" name="object 3"/>
          <p:cNvSpPr txBox="1"/>
          <p:nvPr/>
        </p:nvSpPr>
        <p:spPr>
          <a:xfrm>
            <a:off x="342900" y="1828800"/>
            <a:ext cx="9372600" cy="2870914"/>
          </a:xfrm>
          <a:prstGeom prst="rect">
            <a:avLst/>
          </a:prstGeom>
        </p:spPr>
        <p:txBody>
          <a:bodyPr vert="horz" wrap="square" lIns="0" tIns="12065" rIns="0" bIns="0" rtlCol="0">
            <a:spAutoFit/>
          </a:bodyPr>
          <a:lstStyle/>
          <a:p>
            <a:pPr algn="just">
              <a:lnSpc>
                <a:spcPct val="150000"/>
              </a:lnSpc>
              <a:spcAft>
                <a:spcPts val="800"/>
              </a:spcAft>
            </a:pPr>
            <a:r>
              <a:rPr lang="en-US" kern="100" dirty="0">
                <a:latin typeface="Times New Roman" panose="02020603050405020304" pitchFamily="18" charset="0"/>
                <a:ea typeface="Calibri" panose="020F0502020204030204" pitchFamily="34" charset="0"/>
                <a:cs typeface="Times New Roman" panose="02020603050405020304" pitchFamily="18" charset="0"/>
              </a:rPr>
              <a:t>    This study introduces a deep-learning model for analyzing public sentiment on Twitter about the Russia–Ukraine war. It uses RoBERTa, a powerful language model, combined with an ensemble classifier to better understand tweets written in multiple languages, including those with sarcasm or emojis. The data is cleaned while keeping important elements like hashtags and mentions. The analysis also shows changes in public opinion over time and across regions. Compared to older methods, this model is more accurate and context-aware, making it useful for policymakers and researchers to track real-time public opinion during global conflicts.</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CF84A0-A17B-A712-2FF8-E0A1780552B0}"/>
              </a:ext>
            </a:extLst>
          </p:cNvPr>
          <p:cNvSpPr>
            <a:spLocks noGrp="1"/>
          </p:cNvSpPr>
          <p:nvPr>
            <p:ph type="title"/>
          </p:nvPr>
        </p:nvSpPr>
        <p:spPr>
          <a:xfrm>
            <a:off x="955548" y="990600"/>
            <a:ext cx="8147304" cy="990600"/>
          </a:xfrm>
        </p:spPr>
        <p:txBody>
          <a:bodyPr>
            <a:normAutofit/>
          </a:bodyPr>
          <a:lstStyle/>
          <a:p>
            <a:pPr algn="ctr"/>
            <a:r>
              <a:rPr lang="en-US" sz="3200" b="1" dirty="0">
                <a:solidFill>
                  <a:srgbClr val="7030A0"/>
                </a:solidFill>
                <a:latin typeface="Times New Roman" panose="02020603050405020304" pitchFamily="18" charset="0"/>
                <a:cs typeface="Times New Roman" panose="02020603050405020304" pitchFamily="18" charset="0"/>
              </a:rPr>
              <a:t>EXISTING SYSTEM</a:t>
            </a:r>
            <a:endParaRPr lang="en-IN" sz="3200" b="1" dirty="0"/>
          </a:p>
        </p:txBody>
      </p:sp>
      <p:sp>
        <p:nvSpPr>
          <p:cNvPr id="3" name="Content Placeholder 2">
            <a:extLst>
              <a:ext uri="{FF2B5EF4-FFF2-40B4-BE49-F238E27FC236}">
                <a16:creationId xmlns:a16="http://schemas.microsoft.com/office/drawing/2014/main" id="{0EC8FA7E-9738-FDAA-B708-5B3BE9C53475}"/>
              </a:ext>
            </a:extLst>
          </p:cNvPr>
          <p:cNvSpPr>
            <a:spLocks noGrp="1"/>
          </p:cNvSpPr>
          <p:nvPr>
            <p:ph idx="1"/>
          </p:nvPr>
        </p:nvSpPr>
        <p:spPr>
          <a:xfrm>
            <a:off x="955548" y="2133600"/>
            <a:ext cx="8145118" cy="4577080"/>
          </a:xfrm>
        </p:spPr>
        <p:txBody>
          <a:bodyPr>
            <a:normAutofit/>
          </a:bodyPr>
          <a:lstStyle/>
          <a:p>
            <a:pPr>
              <a:lnSpc>
                <a:spcPct val="150000"/>
              </a:lnSpc>
            </a:pPr>
            <a:r>
              <a:rPr lang="en-US" sz="1800" dirty="0">
                <a:solidFill>
                  <a:schemeClr val="tx1"/>
                </a:solidFill>
                <a:latin typeface="Times New Roman" panose="02020603050405020304" pitchFamily="18" charset="0"/>
                <a:ea typeface="Calibri" panose="020F0502020204030204" pitchFamily="34" charset="0"/>
              </a:rPr>
              <a:t>The current standard uses Manual sentiment monitoring where human analysts scan and tag content.</a:t>
            </a:r>
          </a:p>
          <a:p>
            <a:pPr>
              <a:lnSpc>
                <a:spcPct val="150000"/>
              </a:lnSpc>
            </a:pPr>
            <a:r>
              <a:rPr lang="en-US" sz="1800" dirty="0">
                <a:solidFill>
                  <a:schemeClr val="tx1"/>
                </a:solidFill>
                <a:latin typeface="Times New Roman" panose="02020603050405020304" pitchFamily="18" charset="0"/>
                <a:ea typeface="Calibri" panose="020F0502020204030204" pitchFamily="34" charset="0"/>
              </a:rPr>
              <a:t>Many automated systems use basic Machine Learning (ML) classifiers.</a:t>
            </a:r>
          </a:p>
          <a:p>
            <a:pPr>
              <a:lnSpc>
                <a:spcPct val="150000"/>
              </a:lnSpc>
            </a:pPr>
            <a:r>
              <a:rPr lang="en-US" sz="1800" dirty="0">
                <a:solidFill>
                  <a:schemeClr val="tx1"/>
                </a:solidFill>
                <a:latin typeface="Times New Roman" panose="02020603050405020304" pitchFamily="18" charset="0"/>
                <a:ea typeface="Calibri" panose="020F0502020204030204" pitchFamily="34" charset="0"/>
              </a:rPr>
              <a:t>These basic classifiers rely on handcrafted features (like counting words/n-grams, lexicons, or polarity scores).</a:t>
            </a:r>
          </a:p>
          <a:p>
            <a:pPr>
              <a:lnSpc>
                <a:spcPct val="150000"/>
              </a:lnSpc>
            </a:pPr>
            <a:r>
              <a:rPr lang="en-US" sz="1800" dirty="0">
                <a:solidFill>
                  <a:schemeClr val="tx1"/>
                </a:solidFill>
                <a:latin typeface="Times New Roman" panose="02020603050405020304" pitchFamily="18" charset="0"/>
                <a:ea typeface="Calibri" panose="020F0502020204030204" pitchFamily="34" charset="0"/>
              </a:rPr>
              <a:t>The existing systems are challenged by the massive volume of data (Twitter logged over 20 million war-related tweets in the first month alone).</a:t>
            </a:r>
            <a:endParaRPr lang="en-US" sz="1800" dirty="0">
              <a:solidFill>
                <a:schemeClr val="tx1"/>
              </a:solidFill>
            </a:endParaRPr>
          </a:p>
          <a:p>
            <a:endParaRPr lang="en-IN" dirty="0"/>
          </a:p>
        </p:txBody>
      </p:sp>
    </p:spTree>
    <p:extLst>
      <p:ext uri="{BB962C8B-B14F-4D97-AF65-F5344CB8AC3E}">
        <p14:creationId xmlns:p14="http://schemas.microsoft.com/office/powerpoint/2010/main" val="41476246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37340" y="838200"/>
            <a:ext cx="8153400" cy="696310"/>
          </a:xfrm>
          <a:prstGeom prst="rect">
            <a:avLst/>
          </a:prstGeom>
        </p:spPr>
        <p:txBody>
          <a:bodyPr vert="horz" wrap="square" lIns="0" tIns="201896" rIns="0" bIns="0" rtlCol="0">
            <a:spAutoFit/>
          </a:bodyPr>
          <a:lstStyle/>
          <a:p>
            <a:pPr marL="15240">
              <a:lnSpc>
                <a:spcPct val="100000"/>
              </a:lnSpc>
              <a:spcBef>
                <a:spcPts val="90"/>
              </a:spcBef>
            </a:pPr>
            <a:r>
              <a:rPr sz="3200" b="1" spc="-55" dirty="0">
                <a:solidFill>
                  <a:srgbClr val="7030A0"/>
                </a:solidFill>
                <a:latin typeface="Times New Roman" panose="02020603050405020304" pitchFamily="18" charset="0"/>
                <a:cs typeface="Times New Roman" panose="02020603050405020304" pitchFamily="18" charset="0"/>
              </a:rPr>
              <a:t>DISADVANTAGES</a:t>
            </a:r>
            <a:r>
              <a:rPr sz="3200" b="1" spc="-114" dirty="0">
                <a:solidFill>
                  <a:srgbClr val="7030A0"/>
                </a:solidFill>
                <a:latin typeface="Times New Roman" panose="02020603050405020304" pitchFamily="18" charset="0"/>
                <a:cs typeface="Times New Roman" panose="02020603050405020304" pitchFamily="18" charset="0"/>
              </a:rPr>
              <a:t> </a:t>
            </a:r>
            <a:r>
              <a:rPr sz="3200" b="1" dirty="0">
                <a:solidFill>
                  <a:srgbClr val="7030A0"/>
                </a:solidFill>
                <a:latin typeface="Times New Roman" panose="02020603050405020304" pitchFamily="18" charset="0"/>
                <a:cs typeface="Times New Roman" panose="02020603050405020304" pitchFamily="18" charset="0"/>
              </a:rPr>
              <a:t>OF</a:t>
            </a:r>
            <a:r>
              <a:rPr sz="3200" b="1" spc="-165" dirty="0">
                <a:solidFill>
                  <a:srgbClr val="7030A0"/>
                </a:solidFill>
                <a:latin typeface="Times New Roman" panose="02020603050405020304" pitchFamily="18" charset="0"/>
                <a:cs typeface="Times New Roman" panose="02020603050405020304" pitchFamily="18" charset="0"/>
              </a:rPr>
              <a:t> </a:t>
            </a:r>
            <a:r>
              <a:rPr sz="3200" b="1" dirty="0">
                <a:solidFill>
                  <a:srgbClr val="7030A0"/>
                </a:solidFill>
                <a:latin typeface="Times New Roman" panose="02020603050405020304" pitchFamily="18" charset="0"/>
                <a:cs typeface="Times New Roman" panose="02020603050405020304" pitchFamily="18" charset="0"/>
              </a:rPr>
              <a:t>EXISTING</a:t>
            </a:r>
            <a:r>
              <a:rPr sz="3200" b="1" spc="-114" dirty="0">
                <a:solidFill>
                  <a:srgbClr val="7030A0"/>
                </a:solidFill>
                <a:latin typeface="Times New Roman" panose="02020603050405020304" pitchFamily="18" charset="0"/>
                <a:cs typeface="Times New Roman" panose="02020603050405020304" pitchFamily="18" charset="0"/>
              </a:rPr>
              <a:t> </a:t>
            </a:r>
            <a:r>
              <a:rPr sz="3200" b="1" dirty="0">
                <a:solidFill>
                  <a:srgbClr val="7030A0"/>
                </a:solidFill>
                <a:latin typeface="Times New Roman" panose="02020603050405020304" pitchFamily="18" charset="0"/>
                <a:cs typeface="Times New Roman" panose="02020603050405020304" pitchFamily="18" charset="0"/>
              </a:rPr>
              <a:t>SYSTEM</a:t>
            </a:r>
            <a:r>
              <a:rPr sz="3200" b="1" spc="-75" dirty="0">
                <a:solidFill>
                  <a:srgbClr val="7030A0"/>
                </a:solidFill>
                <a:latin typeface="Times New Roman" panose="02020603050405020304" pitchFamily="18" charset="0"/>
                <a:cs typeface="Times New Roman" panose="02020603050405020304" pitchFamily="18" charset="0"/>
              </a:rPr>
              <a:t> </a:t>
            </a:r>
            <a:endParaRPr sz="3200" b="1" dirty="0">
              <a:solidFill>
                <a:srgbClr val="7030A0"/>
              </a:solidFill>
              <a:latin typeface="Times New Roman" panose="02020603050405020304" pitchFamily="18" charset="0"/>
              <a:cs typeface="Times New Roman" panose="02020603050405020304" pitchFamily="18" charset="0"/>
            </a:endParaRPr>
          </a:p>
        </p:txBody>
      </p:sp>
      <p:sp>
        <p:nvSpPr>
          <p:cNvPr id="3" name="object 3"/>
          <p:cNvSpPr txBox="1"/>
          <p:nvPr/>
        </p:nvSpPr>
        <p:spPr>
          <a:xfrm>
            <a:off x="668521" y="2108679"/>
            <a:ext cx="6743065" cy="305212"/>
          </a:xfrm>
          <a:prstGeom prst="rect">
            <a:avLst/>
          </a:prstGeom>
        </p:spPr>
        <p:txBody>
          <a:bodyPr vert="horz" wrap="square" lIns="0" tIns="12700" rIns="0" bIns="0" rtlCol="0">
            <a:spAutoFit/>
          </a:bodyPr>
          <a:lstStyle/>
          <a:p>
            <a:pPr marL="295910" marR="5080" indent="-283845" algn="just">
              <a:lnSpc>
                <a:spcPct val="100000"/>
              </a:lnSpc>
              <a:spcBef>
                <a:spcPts val="100"/>
              </a:spcBef>
              <a:buFont typeface="Wingdings" panose="05000000000000000000"/>
              <a:buChar char=""/>
              <a:tabLst>
                <a:tab pos="295910" algn="l"/>
              </a:tabLst>
            </a:pPr>
            <a:endParaRPr lang="en-US" sz="1900" b="1" dirty="0">
              <a:latin typeface="Times New Roman" panose="02020603050405020304"/>
              <a:cs typeface="Times New Roman" panose="02020603050405020304"/>
            </a:endParaRPr>
          </a:p>
        </p:txBody>
      </p:sp>
      <p:sp>
        <p:nvSpPr>
          <p:cNvPr id="4" name="Rectangle 1">
            <a:extLst>
              <a:ext uri="{FF2B5EF4-FFF2-40B4-BE49-F238E27FC236}">
                <a16:creationId xmlns:a16="http://schemas.microsoft.com/office/drawing/2014/main" id="{32E0297D-2929-0D58-7B33-C30036468204}"/>
              </a:ext>
            </a:extLst>
          </p:cNvPr>
          <p:cNvSpPr>
            <a:spLocks noChangeArrowheads="1"/>
          </p:cNvSpPr>
          <p:nvPr/>
        </p:nvSpPr>
        <p:spPr bwMode="auto">
          <a:xfrm>
            <a:off x="838201" y="1828800"/>
            <a:ext cx="8551678" cy="3730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algn="just" defTabSz="914400" eaLnBrk="0" fontAlgn="base" hangingPunct="0">
              <a:lnSpc>
                <a:spcPct val="150000"/>
              </a:lnSpc>
              <a:spcBef>
                <a:spcPct val="0"/>
              </a:spcBef>
              <a:spcAft>
                <a:spcPct val="0"/>
              </a:spcAft>
              <a:buFont typeface="Wingdings" panose="05000000000000000000" pitchFamily="2" charset="2"/>
              <a:buChar char="v"/>
            </a:pPr>
            <a:r>
              <a:rPr lang="en-US" altLang="en-US" sz="2000" dirty="0">
                <a:latin typeface="Times New Roman" panose="02020603050405020304" pitchFamily="18" charset="0"/>
                <a:cs typeface="Times New Roman" panose="02020603050405020304" pitchFamily="18" charset="0"/>
              </a:rPr>
              <a:t>Manual systems are slow, non-scalable, and suffer from annotator bias and inconsistency.</a:t>
            </a:r>
          </a:p>
          <a:p>
            <a:pPr marL="342900" lvl="0" indent="-342900" algn="just" defTabSz="914400" eaLnBrk="0" fontAlgn="base" hangingPunct="0">
              <a:lnSpc>
                <a:spcPct val="150000"/>
              </a:lnSpc>
              <a:spcBef>
                <a:spcPct val="0"/>
              </a:spcBef>
              <a:spcAft>
                <a:spcPct val="0"/>
              </a:spcAft>
              <a:buFont typeface="Wingdings" panose="05000000000000000000" pitchFamily="2" charset="2"/>
              <a:buChar char="v"/>
            </a:pPr>
            <a:r>
              <a:rPr lang="en-US" altLang="en-US" sz="2000" dirty="0">
                <a:latin typeface="Times New Roman" panose="02020603050405020304" pitchFamily="18" charset="0"/>
                <a:cs typeface="Times New Roman" panose="02020603050405020304" pitchFamily="18" charset="0"/>
              </a:rPr>
              <a:t>Traditional automated methods lack deep contextual understanding.</a:t>
            </a:r>
          </a:p>
          <a:p>
            <a:pPr marL="342900" lvl="0" indent="-342900" algn="just" defTabSz="914400" eaLnBrk="0" fontAlgn="base" hangingPunct="0">
              <a:lnSpc>
                <a:spcPct val="150000"/>
              </a:lnSpc>
              <a:spcBef>
                <a:spcPct val="0"/>
              </a:spcBef>
              <a:spcAft>
                <a:spcPct val="0"/>
              </a:spcAft>
              <a:buFont typeface="Wingdings" panose="05000000000000000000" pitchFamily="2" charset="2"/>
              <a:buChar char="v"/>
            </a:pPr>
            <a:r>
              <a:rPr lang="en-US" altLang="en-US" sz="2000" dirty="0">
                <a:latin typeface="Times New Roman" panose="02020603050405020304" pitchFamily="18" charset="0"/>
                <a:cs typeface="Times New Roman" panose="02020603050405020304" pitchFamily="18" charset="0"/>
              </a:rPr>
              <a:t>They fail on complex Twitter language such as code-mixed inputs, sarcasm, abbreviations, and emoji-driven sentiment.</a:t>
            </a:r>
          </a:p>
          <a:p>
            <a:pPr marL="342900" lvl="0" indent="-342900" algn="just" defTabSz="914400" eaLnBrk="0" fontAlgn="base" hangingPunct="0">
              <a:lnSpc>
                <a:spcPct val="150000"/>
              </a:lnSpc>
              <a:spcBef>
                <a:spcPct val="0"/>
              </a:spcBef>
              <a:spcAft>
                <a:spcPct val="0"/>
              </a:spcAft>
              <a:buFont typeface="Wingdings" panose="05000000000000000000" pitchFamily="2" charset="2"/>
              <a:buChar char="v"/>
            </a:pPr>
            <a:r>
              <a:rPr lang="en-US" altLang="en-US" sz="2000" dirty="0">
                <a:latin typeface="Times New Roman" panose="02020603050405020304" pitchFamily="18" charset="0"/>
                <a:cs typeface="Times New Roman" panose="02020603050405020304" pitchFamily="18" charset="0"/>
              </a:rPr>
              <a:t>They often produce noisy or misleading aggregate sentiment measures.</a:t>
            </a:r>
          </a:p>
          <a:p>
            <a:pPr marL="342900" lvl="0" indent="-342900" algn="just" defTabSz="914400" eaLnBrk="0" fontAlgn="base" hangingPunct="0">
              <a:lnSpc>
                <a:spcPct val="150000"/>
              </a:lnSpc>
              <a:spcBef>
                <a:spcPct val="0"/>
              </a:spcBef>
              <a:spcAft>
                <a:spcPct val="0"/>
              </a:spcAft>
              <a:buFont typeface="Wingdings" panose="05000000000000000000" pitchFamily="2" charset="2"/>
              <a:buChar char="v"/>
            </a:pPr>
            <a:r>
              <a:rPr lang="en-US" altLang="en-US" sz="2000" dirty="0">
                <a:latin typeface="Times New Roman" panose="02020603050405020304" pitchFamily="18" charset="0"/>
                <a:cs typeface="Times New Roman" panose="02020603050405020304" pitchFamily="18" charset="0"/>
              </a:rPr>
              <a:t>Existing ML models have limited feature representation and weak generalization across unseen data.</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4379" y="533400"/>
            <a:ext cx="8549641" cy="688485"/>
          </a:xfrm>
          <a:prstGeom prst="rect">
            <a:avLst/>
          </a:prstGeom>
        </p:spPr>
        <p:txBody>
          <a:bodyPr vert="horz" wrap="square" lIns="0" tIns="194147" rIns="0" bIns="0" rtlCol="0">
            <a:spAutoFit/>
          </a:bodyPr>
          <a:lstStyle/>
          <a:p>
            <a:pPr marL="2087880">
              <a:lnSpc>
                <a:spcPct val="100000"/>
              </a:lnSpc>
              <a:spcBef>
                <a:spcPts val="125"/>
              </a:spcBef>
            </a:pPr>
            <a:r>
              <a:rPr sz="3200" b="1" dirty="0">
                <a:solidFill>
                  <a:srgbClr val="7030A0"/>
                </a:solidFill>
                <a:latin typeface="Times New Roman" panose="02020603050405020304" pitchFamily="18" charset="0"/>
                <a:cs typeface="Times New Roman" panose="02020603050405020304" pitchFamily="18" charset="0"/>
              </a:rPr>
              <a:t>PROPOSED</a:t>
            </a:r>
            <a:r>
              <a:rPr sz="3200" b="1" spc="15" dirty="0">
                <a:solidFill>
                  <a:srgbClr val="7030A0"/>
                </a:solidFill>
                <a:latin typeface="Times New Roman" panose="02020603050405020304" pitchFamily="18" charset="0"/>
                <a:cs typeface="Times New Roman" panose="02020603050405020304" pitchFamily="18" charset="0"/>
              </a:rPr>
              <a:t> </a:t>
            </a:r>
            <a:r>
              <a:rPr sz="3200" b="1" spc="-10" dirty="0">
                <a:solidFill>
                  <a:srgbClr val="7030A0"/>
                </a:solidFill>
                <a:latin typeface="Times New Roman" panose="02020603050405020304" pitchFamily="18" charset="0"/>
                <a:cs typeface="Times New Roman" panose="02020603050405020304" pitchFamily="18" charset="0"/>
              </a:rPr>
              <a:t>SYSTEM</a:t>
            </a:r>
          </a:p>
        </p:txBody>
      </p:sp>
      <p:sp>
        <p:nvSpPr>
          <p:cNvPr id="4" name="TextBox 3">
            <a:extLst>
              <a:ext uri="{FF2B5EF4-FFF2-40B4-BE49-F238E27FC236}">
                <a16:creationId xmlns:a16="http://schemas.microsoft.com/office/drawing/2014/main" id="{6506C484-29FC-1CE5-D078-E8441CA7598A}"/>
              </a:ext>
            </a:extLst>
          </p:cNvPr>
          <p:cNvSpPr txBox="1"/>
          <p:nvPr/>
        </p:nvSpPr>
        <p:spPr>
          <a:xfrm>
            <a:off x="754379" y="1447800"/>
            <a:ext cx="8549641" cy="4140685"/>
          </a:xfrm>
          <a:prstGeom prst="rect">
            <a:avLst/>
          </a:prstGeom>
          <a:noFill/>
        </p:spPr>
        <p:txBody>
          <a:bodyPr wrap="square">
            <a:spAutoFit/>
          </a:bodyPr>
          <a:lstStyle/>
          <a:p>
            <a:pPr marL="342900" indent="-342900" algn="just">
              <a:lnSpc>
                <a:spcPct val="150000"/>
              </a:lnSpc>
              <a:spcAft>
                <a:spcPts val="800"/>
              </a:spcAft>
              <a:buFont typeface="Arial" panose="020B0604020202020204" pitchFamily="34" charset="0"/>
              <a:buChar char="•"/>
            </a:pPr>
            <a:r>
              <a:rPr lang="en-US" sz="2000" kern="100" dirty="0">
                <a:latin typeface="Times New Roman" panose="02020603050405020304" pitchFamily="18" charset="0"/>
                <a:cs typeface="Times New Roman" panose="02020603050405020304" pitchFamily="18" charset="0"/>
              </a:rPr>
              <a:t>A hybrid sentiment classification framework is introduced.</a:t>
            </a:r>
          </a:p>
          <a:p>
            <a:pPr marL="342900" indent="-342900" algn="just">
              <a:lnSpc>
                <a:spcPct val="150000"/>
              </a:lnSpc>
              <a:spcAft>
                <a:spcPts val="800"/>
              </a:spcAft>
              <a:buFont typeface="Arial" panose="020B0604020202020204" pitchFamily="34" charset="0"/>
              <a:buChar char="•"/>
            </a:pPr>
            <a:r>
              <a:rPr lang="en-US" sz="2000" kern="100" dirty="0">
                <a:latin typeface="Times New Roman" panose="02020603050405020304" pitchFamily="18" charset="0"/>
                <a:cs typeface="Times New Roman" panose="02020603050405020304" pitchFamily="18" charset="0"/>
              </a:rPr>
              <a:t>It uses RoBERTa for deep contextual understanding of tweets (captures sarcasm, code-mixing, and language nuances).</a:t>
            </a:r>
          </a:p>
          <a:p>
            <a:pPr marL="342900" indent="-342900" algn="just">
              <a:lnSpc>
                <a:spcPct val="150000"/>
              </a:lnSpc>
              <a:spcAft>
                <a:spcPts val="800"/>
              </a:spcAft>
              <a:buFont typeface="Arial" panose="020B0604020202020204" pitchFamily="34" charset="0"/>
              <a:buChar char="•"/>
            </a:pPr>
            <a:r>
              <a:rPr lang="en-US" sz="2000" kern="100" dirty="0">
                <a:latin typeface="Times New Roman" panose="02020603050405020304" pitchFamily="18" charset="0"/>
                <a:cs typeface="Times New Roman" panose="02020603050405020304" pitchFamily="18" charset="0"/>
              </a:rPr>
              <a:t>An ensemble of ML classifiers (like multiple models combined) improves accuracy, precision, and stability.</a:t>
            </a:r>
          </a:p>
          <a:p>
            <a:pPr marL="342900" indent="-342900" algn="just">
              <a:lnSpc>
                <a:spcPct val="150000"/>
              </a:lnSpc>
              <a:spcAft>
                <a:spcPts val="800"/>
              </a:spcAft>
              <a:buFont typeface="Arial" panose="020B0604020202020204" pitchFamily="34" charset="0"/>
              <a:buChar char="•"/>
            </a:pPr>
            <a:r>
              <a:rPr lang="en-US" sz="2000" kern="100" dirty="0">
                <a:latin typeface="Times New Roman" panose="02020603050405020304" pitchFamily="18" charset="0"/>
                <a:cs typeface="Times New Roman" panose="02020603050405020304" pitchFamily="18" charset="0"/>
              </a:rPr>
              <a:t>This method handles large-scale, noisy, multilingual Twitter data better than existing systems.</a:t>
            </a:r>
          </a:p>
          <a:p>
            <a:pPr marL="342900" indent="-342900" algn="just">
              <a:lnSpc>
                <a:spcPct val="150000"/>
              </a:lnSpc>
              <a:spcAft>
                <a:spcPts val="800"/>
              </a:spcAft>
              <a:buFont typeface="Arial" panose="020B0604020202020204" pitchFamily="34" charset="0"/>
              <a:buChar char="•"/>
            </a:pPr>
            <a:r>
              <a:rPr lang="en-US" sz="2000" kern="100" dirty="0">
                <a:latin typeface="Times New Roman" panose="02020603050405020304" pitchFamily="18" charset="0"/>
                <a:cs typeface="Times New Roman" panose="02020603050405020304" pitchFamily="18" charset="0"/>
              </a:rPr>
              <a:t>Useful for tracking public opinion shifts during geopolitical crises.</a:t>
            </a:r>
            <a:endParaRPr lang="en-US" sz="2000" kern="100" dirty="0">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0" y="328894"/>
            <a:ext cx="7696200" cy="916392"/>
          </a:xfrm>
          <a:prstGeom prst="rect">
            <a:avLst/>
          </a:prstGeom>
        </p:spPr>
        <p:txBody>
          <a:bodyPr vert="horz" wrap="square" lIns="0" tIns="419849" rIns="0" bIns="0" rtlCol="0">
            <a:spAutoFit/>
          </a:bodyPr>
          <a:lstStyle/>
          <a:p>
            <a:pPr marL="15240">
              <a:lnSpc>
                <a:spcPct val="100000"/>
              </a:lnSpc>
              <a:spcBef>
                <a:spcPts val="125"/>
              </a:spcBef>
            </a:pPr>
            <a:r>
              <a:rPr sz="3200" b="1" spc="-40" dirty="0">
                <a:solidFill>
                  <a:srgbClr val="7030A0"/>
                </a:solidFill>
                <a:latin typeface="Times New Roman" panose="02020603050405020304" pitchFamily="18" charset="0"/>
                <a:cs typeface="Times New Roman" panose="02020603050405020304" pitchFamily="18" charset="0"/>
              </a:rPr>
              <a:t>ADVANTAGES</a:t>
            </a:r>
            <a:r>
              <a:rPr sz="3200" b="1" spc="-45" dirty="0">
                <a:solidFill>
                  <a:srgbClr val="7030A0"/>
                </a:solidFill>
                <a:latin typeface="Times New Roman" panose="02020603050405020304" pitchFamily="18" charset="0"/>
                <a:cs typeface="Times New Roman" panose="02020603050405020304" pitchFamily="18" charset="0"/>
              </a:rPr>
              <a:t> </a:t>
            </a:r>
            <a:r>
              <a:rPr sz="3200" b="1" dirty="0">
                <a:solidFill>
                  <a:srgbClr val="7030A0"/>
                </a:solidFill>
                <a:latin typeface="Times New Roman" panose="02020603050405020304" pitchFamily="18" charset="0"/>
                <a:cs typeface="Times New Roman" panose="02020603050405020304" pitchFamily="18" charset="0"/>
              </a:rPr>
              <a:t>OF</a:t>
            </a:r>
            <a:r>
              <a:rPr sz="3200" b="1" spc="-114" dirty="0">
                <a:solidFill>
                  <a:srgbClr val="7030A0"/>
                </a:solidFill>
                <a:latin typeface="Times New Roman" panose="02020603050405020304" pitchFamily="18" charset="0"/>
                <a:cs typeface="Times New Roman" panose="02020603050405020304" pitchFamily="18" charset="0"/>
              </a:rPr>
              <a:t> </a:t>
            </a:r>
            <a:r>
              <a:rPr sz="3200" b="1" dirty="0">
                <a:solidFill>
                  <a:srgbClr val="7030A0"/>
                </a:solidFill>
                <a:latin typeface="Times New Roman" panose="02020603050405020304" pitchFamily="18" charset="0"/>
                <a:cs typeface="Times New Roman" panose="02020603050405020304" pitchFamily="18" charset="0"/>
              </a:rPr>
              <a:t>PROPOSED</a:t>
            </a:r>
            <a:r>
              <a:rPr sz="3200" b="1" spc="-25" dirty="0">
                <a:solidFill>
                  <a:srgbClr val="7030A0"/>
                </a:solidFill>
                <a:latin typeface="Times New Roman" panose="02020603050405020304" pitchFamily="18" charset="0"/>
                <a:cs typeface="Times New Roman" panose="02020603050405020304" pitchFamily="18" charset="0"/>
              </a:rPr>
              <a:t> </a:t>
            </a:r>
            <a:r>
              <a:rPr sz="3200" b="1" spc="-10" dirty="0">
                <a:solidFill>
                  <a:srgbClr val="7030A0"/>
                </a:solidFill>
                <a:latin typeface="Times New Roman" panose="02020603050405020304" pitchFamily="18" charset="0"/>
                <a:cs typeface="Times New Roman" panose="02020603050405020304" pitchFamily="18" charset="0"/>
              </a:rPr>
              <a:t>SYSTEM</a:t>
            </a:r>
          </a:p>
        </p:txBody>
      </p:sp>
      <p:sp>
        <p:nvSpPr>
          <p:cNvPr id="3" name="object 3"/>
          <p:cNvSpPr txBox="1"/>
          <p:nvPr/>
        </p:nvSpPr>
        <p:spPr>
          <a:xfrm>
            <a:off x="762000" y="2286000"/>
            <a:ext cx="7077075" cy="298223"/>
          </a:xfrm>
          <a:prstGeom prst="rect">
            <a:avLst/>
          </a:prstGeom>
        </p:spPr>
        <p:txBody>
          <a:bodyPr vert="horz" wrap="square" lIns="0" tIns="12065" rIns="0" bIns="0" rtlCol="0">
            <a:spAutoFit/>
          </a:bodyPr>
          <a:lstStyle/>
          <a:p>
            <a:pPr marL="295910" marR="5715" indent="-283845" algn="just">
              <a:lnSpc>
                <a:spcPct val="101000"/>
              </a:lnSpc>
              <a:spcBef>
                <a:spcPts val="95"/>
              </a:spcBef>
              <a:buFont typeface="Wingdings" panose="05000000000000000000"/>
              <a:buChar char=""/>
              <a:tabLst>
                <a:tab pos="295910" algn="l"/>
              </a:tabLst>
            </a:pPr>
            <a:endParaRPr lang="en-US" sz="1950" b="1" dirty="0">
              <a:latin typeface="Times New Roman" panose="02020603050405020304"/>
              <a:cs typeface="Times New Roman" panose="02020603050405020304"/>
            </a:endParaRPr>
          </a:p>
        </p:txBody>
      </p:sp>
      <p:sp>
        <p:nvSpPr>
          <p:cNvPr id="5" name="TextBox 4">
            <a:extLst>
              <a:ext uri="{FF2B5EF4-FFF2-40B4-BE49-F238E27FC236}">
                <a16:creationId xmlns:a16="http://schemas.microsoft.com/office/drawing/2014/main" id="{3A1B6E1A-8554-3C8A-A96D-36659DA39B28}"/>
              </a:ext>
            </a:extLst>
          </p:cNvPr>
          <p:cNvSpPr txBox="1"/>
          <p:nvPr/>
        </p:nvSpPr>
        <p:spPr>
          <a:xfrm>
            <a:off x="381000" y="1789985"/>
            <a:ext cx="9296399" cy="4192430"/>
          </a:xfrm>
          <a:prstGeom prst="rect">
            <a:avLst/>
          </a:prstGeom>
          <a:noFill/>
        </p:spPr>
        <p:txBody>
          <a:bodyPr wrap="square">
            <a:spAutoFit/>
          </a:bodyPr>
          <a:lstStyle/>
          <a:p>
            <a:pPr marL="285750" lvl="0" indent="-285750" algn="just">
              <a:lnSpc>
                <a:spcPct val="150000"/>
              </a:lnSpc>
              <a:spcAft>
                <a:spcPts val="800"/>
              </a:spcAft>
              <a:buFont typeface="Wingdings" panose="05000000000000000000" pitchFamily="2" charset="2"/>
              <a:buChar char="v"/>
            </a:pPr>
            <a:r>
              <a:rPr lang="en-US" kern="100" dirty="0">
                <a:latin typeface="Times New Roman" panose="02020603050405020304" pitchFamily="18" charset="0"/>
                <a:cs typeface="Times New Roman" panose="02020603050405020304" pitchFamily="18" charset="0"/>
              </a:rPr>
              <a:t>RoBERTa captures deep semantic and contextual features, overcoming the limitations of traditional models in handling sarcasm and nuanced language.</a:t>
            </a:r>
          </a:p>
          <a:p>
            <a:pPr marL="285750" lvl="0" indent="-285750" algn="just">
              <a:lnSpc>
                <a:spcPct val="150000"/>
              </a:lnSpc>
              <a:spcAft>
                <a:spcPts val="800"/>
              </a:spcAft>
              <a:buFont typeface="Wingdings" panose="05000000000000000000" pitchFamily="2" charset="2"/>
              <a:buChar char="v"/>
            </a:pPr>
            <a:r>
              <a:rPr lang="en-US" kern="100" dirty="0">
                <a:latin typeface="Times New Roman" panose="02020603050405020304" pitchFamily="18" charset="0"/>
                <a:cs typeface="Times New Roman" panose="02020603050405020304" pitchFamily="18" charset="0"/>
              </a:rPr>
              <a:t>The ensemble classifier ensures higher accuracy, precision, and recall by combining complementary strengths.</a:t>
            </a:r>
          </a:p>
          <a:p>
            <a:pPr marL="285750" lvl="0" indent="-285750" algn="just">
              <a:lnSpc>
                <a:spcPct val="150000"/>
              </a:lnSpc>
              <a:spcAft>
                <a:spcPts val="800"/>
              </a:spcAft>
              <a:buFont typeface="Wingdings" panose="05000000000000000000" pitchFamily="2" charset="2"/>
              <a:buChar char="v"/>
            </a:pPr>
            <a:r>
              <a:rPr lang="en-US" kern="100" dirty="0">
                <a:latin typeface="Times New Roman" panose="02020603050405020304" pitchFamily="18" charset="0"/>
                <a:cs typeface="Times New Roman" panose="02020603050405020304" pitchFamily="18" charset="0"/>
              </a:rPr>
              <a:t>It provides more stable and reliable sentiment predictions.</a:t>
            </a:r>
          </a:p>
          <a:p>
            <a:pPr marL="285750" lvl="0" indent="-285750" algn="just">
              <a:lnSpc>
                <a:spcPct val="150000"/>
              </a:lnSpc>
              <a:spcAft>
                <a:spcPts val="800"/>
              </a:spcAft>
              <a:buFont typeface="Wingdings" panose="05000000000000000000" pitchFamily="2" charset="2"/>
              <a:buChar char="v"/>
            </a:pPr>
            <a:r>
              <a:rPr lang="en-US" kern="100" dirty="0">
                <a:latin typeface="Times New Roman" panose="02020603050405020304" pitchFamily="18" charset="0"/>
                <a:cs typeface="Times New Roman" panose="02020603050405020304" pitchFamily="18" charset="0"/>
              </a:rPr>
              <a:t>The system delivers more reliable public-opinion signals for policymakers, researchers, and media analysts.</a:t>
            </a:r>
          </a:p>
          <a:p>
            <a:pPr marL="285750" lvl="0" indent="-285750" algn="just">
              <a:lnSpc>
                <a:spcPct val="150000"/>
              </a:lnSpc>
              <a:spcAft>
                <a:spcPts val="800"/>
              </a:spcAft>
              <a:buFont typeface="Wingdings" panose="05000000000000000000" pitchFamily="2" charset="2"/>
              <a:buChar char="v"/>
            </a:pPr>
            <a:r>
              <a:rPr lang="en-US" kern="100" dirty="0">
                <a:latin typeface="Times New Roman" panose="02020603050405020304" pitchFamily="18" charset="0"/>
                <a:cs typeface="Times New Roman" panose="02020603050405020304" pitchFamily="18" charset="0"/>
              </a:rPr>
              <a:t>It is a robust and practical tool for monitoring real-time opinion dynamics during geopolitical crises.</a:t>
            </a:r>
            <a:endParaRPr lang="en-US" kern="100" dirty="0">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E46635C-A950-94AD-DBB2-C5E073410F61}"/>
              </a:ext>
            </a:extLst>
          </p:cNvPr>
          <p:cNvSpPr>
            <a:spLocks noGrp="1"/>
          </p:cNvSpPr>
          <p:nvPr>
            <p:ph type="body" idx="1"/>
          </p:nvPr>
        </p:nvSpPr>
        <p:spPr>
          <a:xfrm>
            <a:off x="609600" y="1594739"/>
            <a:ext cx="3922776" cy="880872"/>
          </a:xfrm>
        </p:spPr>
        <p:txBody>
          <a:bodyPr/>
          <a:lstStyle/>
          <a:p>
            <a:r>
              <a:rPr lang="en-US" sz="2000" u="sng" dirty="0">
                <a:solidFill>
                  <a:srgbClr val="000000"/>
                </a:solidFill>
                <a:latin typeface="Times New Roman" panose="02020603050405020304" pitchFamily="18" charset="0"/>
                <a:cs typeface="Times New Roman" panose="02020603050405020304" pitchFamily="18" charset="0"/>
              </a:rPr>
              <a:t>SOFTWARE REQUIREMENTS</a:t>
            </a:r>
            <a:r>
              <a:rPr lang="en-US" sz="2000" u="sng" dirty="0">
                <a:solidFill>
                  <a:srgbClr val="000000"/>
                </a:solidFill>
                <a:latin typeface="Bell MT" panose="02020503060305020303" pitchFamily="18" charset="0"/>
                <a:cs typeface="Times New Roman" panose="02020603050405020304" pitchFamily="18" charset="0"/>
              </a:rPr>
              <a:t>:</a:t>
            </a:r>
          </a:p>
          <a:p>
            <a:endParaRPr lang="en-IN" dirty="0"/>
          </a:p>
        </p:txBody>
      </p:sp>
      <p:sp>
        <p:nvSpPr>
          <p:cNvPr id="4" name="Content Placeholder 3">
            <a:extLst>
              <a:ext uri="{FF2B5EF4-FFF2-40B4-BE49-F238E27FC236}">
                <a16:creationId xmlns:a16="http://schemas.microsoft.com/office/drawing/2014/main" id="{87296119-DB25-729B-8584-A9E4A4FA93C6}"/>
              </a:ext>
            </a:extLst>
          </p:cNvPr>
          <p:cNvSpPr>
            <a:spLocks noGrp="1"/>
          </p:cNvSpPr>
          <p:nvPr>
            <p:ph sz="half" idx="2"/>
          </p:nvPr>
        </p:nvSpPr>
        <p:spPr>
          <a:xfrm>
            <a:off x="5488855" y="2286000"/>
            <a:ext cx="3193374" cy="2187558"/>
          </a:xfrm>
        </p:spPr>
        <p:txBody>
          <a:bodyPr>
            <a:normAutofit lnSpcReduction="10000"/>
          </a:bodyPr>
          <a:lstStyle/>
          <a:p>
            <a:pPr marL="0" indent="0">
              <a:buNone/>
            </a:pPr>
            <a:endParaRPr lang="en-IN" sz="2090" dirty="0">
              <a:latin typeface="Times New Roman" panose="02020603050405020304" pitchFamily="18" charset="0"/>
              <a:ea typeface="Times New Roman" panose="02020603050405020304" pitchFamily="18" charset="0"/>
              <a:cs typeface="Times New Roman" panose="02020603050405020304" pitchFamily="18" charset="0"/>
            </a:endParaRPr>
          </a:p>
          <a:p>
            <a:pPr lvl="0"/>
            <a:r>
              <a:rPr lang="en-IN" sz="1800" b="1" dirty="0">
                <a:solidFill>
                  <a:schemeClr val="tx1"/>
                </a:solidFill>
                <a:latin typeface="Times New Roman" panose="02020603050405020304" pitchFamily="18" charset="0"/>
                <a:cs typeface="Times New Roman" panose="02020603050405020304" pitchFamily="18" charset="0"/>
              </a:rPr>
              <a:t>Processor:</a:t>
            </a:r>
            <a:r>
              <a:rPr lang="en-IN" sz="1800" dirty="0">
                <a:solidFill>
                  <a:schemeClr val="tx1"/>
                </a:solidFill>
                <a:latin typeface="Times New Roman" panose="02020603050405020304" pitchFamily="18" charset="0"/>
                <a:cs typeface="Times New Roman" panose="02020603050405020304" pitchFamily="18" charset="0"/>
              </a:rPr>
              <a:t> Intel i5</a:t>
            </a:r>
          </a:p>
          <a:p>
            <a:pPr lvl="0"/>
            <a:r>
              <a:rPr lang="en-IN" sz="1800" b="1" dirty="0">
                <a:solidFill>
                  <a:schemeClr val="tx1"/>
                </a:solidFill>
                <a:latin typeface="Times New Roman" panose="02020603050405020304" pitchFamily="18" charset="0"/>
                <a:cs typeface="Times New Roman" panose="02020603050405020304" pitchFamily="18" charset="0"/>
              </a:rPr>
              <a:t>Memory:</a:t>
            </a:r>
            <a:r>
              <a:rPr lang="en-IN" sz="1800" dirty="0">
                <a:solidFill>
                  <a:schemeClr val="tx1"/>
                </a:solidFill>
                <a:latin typeface="Times New Roman" panose="02020603050405020304" pitchFamily="18" charset="0"/>
                <a:cs typeface="Times New Roman" panose="02020603050405020304" pitchFamily="18" charset="0"/>
              </a:rPr>
              <a:t> 1 TB (storage)</a:t>
            </a:r>
          </a:p>
          <a:p>
            <a:pPr lvl="0"/>
            <a:r>
              <a:rPr lang="en-IN" sz="1800" b="1" dirty="0">
                <a:solidFill>
                  <a:schemeClr val="tx1"/>
                </a:solidFill>
                <a:latin typeface="Times New Roman" panose="02020603050405020304" pitchFamily="18" charset="0"/>
                <a:cs typeface="Times New Roman" panose="02020603050405020304" pitchFamily="18" charset="0"/>
              </a:rPr>
              <a:t>RAM: </a:t>
            </a:r>
            <a:r>
              <a:rPr lang="en-IN" sz="1800" dirty="0">
                <a:solidFill>
                  <a:schemeClr val="tx1"/>
                </a:solidFill>
                <a:latin typeface="Times New Roman" panose="02020603050405020304" pitchFamily="18" charset="0"/>
                <a:cs typeface="Times New Roman" panose="02020603050405020304" pitchFamily="18" charset="0"/>
              </a:rPr>
              <a:t>8 GB</a:t>
            </a:r>
          </a:p>
          <a:p>
            <a:pPr marL="0" indent="0">
              <a:buNone/>
            </a:pPr>
            <a:endParaRPr lang="en-IN" sz="2090"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5" name="Text Placeholder 4">
            <a:extLst>
              <a:ext uri="{FF2B5EF4-FFF2-40B4-BE49-F238E27FC236}">
                <a16:creationId xmlns:a16="http://schemas.microsoft.com/office/drawing/2014/main" id="{51DE2522-AB36-D5DB-5AEB-CFC0B0E2423D}"/>
              </a:ext>
            </a:extLst>
          </p:cNvPr>
          <p:cNvSpPr>
            <a:spLocks noGrp="1"/>
          </p:cNvSpPr>
          <p:nvPr>
            <p:ph type="body" sz="quarter" idx="3"/>
          </p:nvPr>
        </p:nvSpPr>
        <p:spPr>
          <a:xfrm>
            <a:off x="5233813" y="1594739"/>
            <a:ext cx="4405487" cy="880872"/>
          </a:xfrm>
        </p:spPr>
        <p:txBody>
          <a:bodyPr/>
          <a:lstStyle/>
          <a:p>
            <a:r>
              <a:rPr lang="en-US" sz="2000" u="sng" dirty="0">
                <a:solidFill>
                  <a:srgbClr val="000000"/>
                </a:solidFill>
                <a:latin typeface="Times New Roman" panose="02020603050405020304" pitchFamily="18" charset="0"/>
                <a:cs typeface="Times New Roman" panose="02020603050405020304" pitchFamily="18" charset="0"/>
              </a:rPr>
              <a:t>HARDWARE  REQUIREMENTS:</a:t>
            </a:r>
          </a:p>
          <a:p>
            <a:endParaRPr lang="en-IN" dirty="0"/>
          </a:p>
        </p:txBody>
      </p:sp>
      <p:sp>
        <p:nvSpPr>
          <p:cNvPr id="6" name="Content Placeholder 5">
            <a:extLst>
              <a:ext uri="{FF2B5EF4-FFF2-40B4-BE49-F238E27FC236}">
                <a16:creationId xmlns:a16="http://schemas.microsoft.com/office/drawing/2014/main" id="{8814ECFB-27C9-7115-CDF6-DB7D98AD6D56}"/>
              </a:ext>
            </a:extLst>
          </p:cNvPr>
          <p:cNvSpPr>
            <a:spLocks noGrp="1"/>
          </p:cNvSpPr>
          <p:nvPr>
            <p:ph sz="quarter" idx="4"/>
          </p:nvPr>
        </p:nvSpPr>
        <p:spPr>
          <a:xfrm>
            <a:off x="974301" y="2286000"/>
            <a:ext cx="3193374" cy="1841591"/>
          </a:xfrm>
        </p:spPr>
        <p:txBody>
          <a:bodyPr>
            <a:normAutofit lnSpcReduction="10000"/>
          </a:bodyPr>
          <a:lstStyle/>
          <a:p>
            <a:pPr marL="0" indent="0">
              <a:buNone/>
            </a:pPr>
            <a:endParaRPr lang="en-IN" dirty="0"/>
          </a:p>
          <a:p>
            <a:pPr lvl="0"/>
            <a:r>
              <a:rPr lang="en-IN" sz="1800" b="1" dirty="0">
                <a:solidFill>
                  <a:schemeClr val="tx1"/>
                </a:solidFill>
                <a:latin typeface="Times New Roman" panose="02020603050405020304" pitchFamily="18" charset="0"/>
                <a:cs typeface="Times New Roman" panose="02020603050405020304" pitchFamily="18" charset="0"/>
              </a:rPr>
              <a:t>Python:</a:t>
            </a:r>
            <a:r>
              <a:rPr lang="en-IN" sz="1800" dirty="0">
                <a:solidFill>
                  <a:schemeClr val="tx1"/>
                </a:solidFill>
                <a:latin typeface="Times New Roman" panose="02020603050405020304" pitchFamily="18" charset="0"/>
                <a:cs typeface="Times New Roman" panose="02020603050405020304" pitchFamily="18" charset="0"/>
              </a:rPr>
              <a:t> 3.12.0</a:t>
            </a:r>
          </a:p>
          <a:p>
            <a:pPr lvl="0"/>
            <a:r>
              <a:rPr lang="en-IN" sz="1800" b="1" dirty="0">
                <a:solidFill>
                  <a:schemeClr val="tx1"/>
                </a:solidFill>
                <a:latin typeface="Times New Roman" panose="02020603050405020304" pitchFamily="18" charset="0"/>
                <a:cs typeface="Times New Roman" panose="02020603050405020304" pitchFamily="18" charset="0"/>
              </a:rPr>
              <a:t>Operating system: </a:t>
            </a:r>
            <a:r>
              <a:rPr lang="en-IN" sz="1800" dirty="0">
                <a:solidFill>
                  <a:schemeClr val="tx1"/>
                </a:solidFill>
                <a:latin typeface="Times New Roman" panose="02020603050405020304" pitchFamily="18" charset="0"/>
                <a:cs typeface="Times New Roman" panose="02020603050405020304" pitchFamily="18" charset="0"/>
              </a:rPr>
              <a:t>Windows</a:t>
            </a:r>
          </a:p>
          <a:p>
            <a:pPr lvl="0"/>
            <a:r>
              <a:rPr lang="en-IN" sz="1800" b="1" dirty="0">
                <a:solidFill>
                  <a:schemeClr val="tx1"/>
                </a:solidFill>
                <a:latin typeface="Times New Roman" panose="02020603050405020304" pitchFamily="18" charset="0"/>
                <a:cs typeface="Times New Roman" panose="02020603050405020304" pitchFamily="18" charset="0"/>
              </a:rPr>
              <a:t>Frontend: </a:t>
            </a:r>
            <a:r>
              <a:rPr lang="en-IN" sz="1800" dirty="0">
                <a:solidFill>
                  <a:schemeClr val="tx1"/>
                </a:solidFill>
                <a:latin typeface="Times New Roman" panose="02020603050405020304" pitchFamily="18" charset="0"/>
                <a:cs typeface="Times New Roman" panose="02020603050405020304" pitchFamily="18" charset="0"/>
              </a:rPr>
              <a:t>Tkinter</a:t>
            </a:r>
          </a:p>
          <a:p>
            <a:pPr lvl="0"/>
            <a:r>
              <a:rPr lang="en-IN" sz="1800" b="1" dirty="0">
                <a:solidFill>
                  <a:schemeClr val="tx1"/>
                </a:solidFill>
                <a:latin typeface="Times New Roman" panose="02020603050405020304" pitchFamily="18" charset="0"/>
                <a:cs typeface="Times New Roman" panose="02020603050405020304" pitchFamily="18" charset="0"/>
              </a:rPr>
              <a:t>Database</a:t>
            </a:r>
            <a:r>
              <a:rPr lang="en-IN" sz="1800" dirty="0">
                <a:solidFill>
                  <a:schemeClr val="tx1"/>
                </a:solidFill>
                <a:latin typeface="Times New Roman" panose="02020603050405020304" pitchFamily="18" charset="0"/>
                <a:cs typeface="Times New Roman" panose="02020603050405020304" pitchFamily="18" charset="0"/>
              </a:rPr>
              <a:t>: Redis</a:t>
            </a:r>
          </a:p>
          <a:p>
            <a:pPr marL="0" indent="0">
              <a:buNone/>
            </a:pPr>
            <a:endParaRPr lang="en-IN" dirty="0">
              <a:solidFill>
                <a:schemeClr val="tx1"/>
              </a:solidFill>
            </a:endParaRPr>
          </a:p>
        </p:txBody>
      </p:sp>
      <p:sp>
        <p:nvSpPr>
          <p:cNvPr id="9" name="TextBox 8">
            <a:extLst>
              <a:ext uri="{FF2B5EF4-FFF2-40B4-BE49-F238E27FC236}">
                <a16:creationId xmlns:a16="http://schemas.microsoft.com/office/drawing/2014/main" id="{6D23336B-8A49-2615-A1A4-312F51452101}"/>
              </a:ext>
            </a:extLst>
          </p:cNvPr>
          <p:cNvSpPr txBox="1"/>
          <p:nvPr/>
        </p:nvSpPr>
        <p:spPr>
          <a:xfrm>
            <a:off x="2826457" y="1385138"/>
            <a:ext cx="4405487" cy="650037"/>
          </a:xfrm>
          <a:prstGeom prst="rect">
            <a:avLst/>
          </a:prstGeom>
        </p:spPr>
        <p:txBody>
          <a:bodyPr lIns="27940" tIns="27940" rIns="27940" bIns="27940" rtlCol="0" anchor="ctr"/>
          <a:lstStyle/>
          <a:p>
            <a:pPr algn="ctr">
              <a:lnSpc>
                <a:spcPts val="1462"/>
              </a:lnSpc>
              <a:spcBef>
                <a:spcPct val="0"/>
              </a:spcBef>
            </a:pPr>
            <a:endParaRPr sz="99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FDE51F5D-EA1A-3C99-623C-7234A654A605}"/>
              </a:ext>
            </a:extLst>
          </p:cNvPr>
          <p:cNvSpPr txBox="1"/>
          <p:nvPr/>
        </p:nvSpPr>
        <p:spPr>
          <a:xfrm>
            <a:off x="419100" y="884156"/>
            <a:ext cx="9220200" cy="541174"/>
          </a:xfrm>
          <a:prstGeom prst="rect">
            <a:avLst/>
          </a:prstGeom>
          <a:noFill/>
        </p:spPr>
        <p:txBody>
          <a:bodyPr wrap="square">
            <a:spAutoFit/>
          </a:bodyPr>
          <a:lstStyle/>
          <a:p>
            <a:pPr algn="ctr">
              <a:lnSpc>
                <a:spcPts val="3471"/>
              </a:lnSpc>
            </a:pPr>
            <a:r>
              <a:rPr lang="en-US" sz="3200" b="1" dirty="0">
                <a:solidFill>
                  <a:srgbClr val="7030A0"/>
                </a:solidFill>
                <a:latin typeface="Times New Roman" panose="02020603050405020304" pitchFamily="18" charset="0"/>
                <a:cs typeface="Times New Roman" panose="02020603050405020304" pitchFamily="18" charset="0"/>
              </a:rPr>
              <a:t>SOFTWARE &amp; HARDWARE REQUIREMENTS</a:t>
            </a:r>
          </a:p>
        </p:txBody>
      </p:sp>
    </p:spTree>
    <p:extLst>
      <p:ext uri="{BB962C8B-B14F-4D97-AF65-F5344CB8AC3E}">
        <p14:creationId xmlns:p14="http://schemas.microsoft.com/office/powerpoint/2010/main" val="17621702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221319-46C7-9A27-02D9-CF85EE28E7D3}"/>
              </a:ext>
            </a:extLst>
          </p:cNvPr>
          <p:cNvSpPr>
            <a:spLocks noGrp="1"/>
          </p:cNvSpPr>
          <p:nvPr>
            <p:ph type="title"/>
          </p:nvPr>
        </p:nvSpPr>
        <p:spPr>
          <a:xfrm>
            <a:off x="2109787" y="990600"/>
            <a:ext cx="5838825" cy="680720"/>
          </a:xfrm>
        </p:spPr>
        <p:txBody>
          <a:bodyPr>
            <a:normAutofit/>
          </a:bodyPr>
          <a:lstStyle/>
          <a:p>
            <a:r>
              <a:rPr lang="en-IN" sz="3200" b="1" dirty="0">
                <a:solidFill>
                  <a:srgbClr val="7030A0"/>
                </a:solidFill>
                <a:latin typeface="Times New Roman" panose="02020603050405020304" pitchFamily="18" charset="0"/>
                <a:cs typeface="Times New Roman" panose="02020603050405020304" pitchFamily="18" charset="0"/>
              </a:rPr>
              <a:t>NOVELTY OF THE PROJECT</a:t>
            </a:r>
          </a:p>
        </p:txBody>
      </p:sp>
      <p:sp>
        <p:nvSpPr>
          <p:cNvPr id="3" name="Content Placeholder 2">
            <a:extLst>
              <a:ext uri="{FF2B5EF4-FFF2-40B4-BE49-F238E27FC236}">
                <a16:creationId xmlns:a16="http://schemas.microsoft.com/office/drawing/2014/main" id="{A457BA1E-B840-1722-C4F2-E0CD811D431A}"/>
              </a:ext>
            </a:extLst>
          </p:cNvPr>
          <p:cNvSpPr>
            <a:spLocks noGrp="1"/>
          </p:cNvSpPr>
          <p:nvPr>
            <p:ph idx="1"/>
          </p:nvPr>
        </p:nvSpPr>
        <p:spPr>
          <a:xfrm>
            <a:off x="609599" y="2209800"/>
            <a:ext cx="8839200" cy="2895600"/>
          </a:xfrm>
        </p:spPr>
        <p:txBody>
          <a:bodyPr>
            <a:normAutofit/>
          </a:bodyPr>
          <a:lstStyle/>
          <a:p>
            <a:r>
              <a:rPr lang="en-US" sz="1800" b="1" dirty="0">
                <a:solidFill>
                  <a:schemeClr val="tx1"/>
                </a:solidFill>
                <a:latin typeface="Times New Roman" panose="02020603050405020304" pitchFamily="18" charset="0"/>
                <a:cs typeface="Times New Roman" panose="02020603050405020304" pitchFamily="18" charset="0"/>
              </a:rPr>
              <a:t>Comparative Study</a:t>
            </a:r>
            <a:r>
              <a:rPr lang="en-US" sz="1800" dirty="0">
                <a:solidFill>
                  <a:schemeClr val="tx1"/>
                </a:solidFill>
                <a:latin typeface="Times New Roman" panose="02020603050405020304" pitchFamily="18" charset="0"/>
                <a:cs typeface="Times New Roman" panose="02020603050405020304" pitchFamily="18" charset="0"/>
              </a:rPr>
              <a:t> – Compares multiple machine learning and deep learning models to find the best one.</a:t>
            </a:r>
          </a:p>
          <a:p>
            <a:r>
              <a:rPr lang="en-US" sz="1800" b="1" dirty="0">
                <a:solidFill>
                  <a:schemeClr val="tx1"/>
                </a:solidFill>
                <a:latin typeface="Times New Roman" panose="02020603050405020304" pitchFamily="18" charset="0"/>
                <a:cs typeface="Times New Roman" panose="02020603050405020304" pitchFamily="18" charset="0"/>
              </a:rPr>
              <a:t>Hybrid Framework</a:t>
            </a:r>
            <a:r>
              <a:rPr lang="en-US" sz="1800" dirty="0">
                <a:solidFill>
                  <a:schemeClr val="tx1"/>
                </a:solidFill>
                <a:latin typeface="Times New Roman" panose="02020603050405020304" pitchFamily="18" charset="0"/>
                <a:cs typeface="Times New Roman" panose="02020603050405020304" pitchFamily="18" charset="0"/>
              </a:rPr>
              <a:t> – Combines </a:t>
            </a:r>
            <a:r>
              <a:rPr lang="en-US" sz="1800" dirty="0" err="1">
                <a:solidFill>
                  <a:schemeClr val="tx1"/>
                </a:solidFill>
                <a:latin typeface="Times New Roman" panose="02020603050405020304" pitchFamily="18" charset="0"/>
                <a:cs typeface="Times New Roman" panose="02020603050405020304" pitchFamily="18" charset="0"/>
              </a:rPr>
              <a:t>RoBERTa</a:t>
            </a:r>
            <a:r>
              <a:rPr lang="en-US" sz="1800" dirty="0">
                <a:solidFill>
                  <a:schemeClr val="tx1"/>
                </a:solidFill>
                <a:latin typeface="Times New Roman" panose="02020603050405020304" pitchFamily="18" charset="0"/>
                <a:cs typeface="Times New Roman" panose="02020603050405020304" pitchFamily="18" charset="0"/>
              </a:rPr>
              <a:t>, deep learning, and a tree-based classifier for better results.</a:t>
            </a:r>
          </a:p>
          <a:p>
            <a:r>
              <a:rPr lang="en-US" sz="1800" b="1" dirty="0">
                <a:solidFill>
                  <a:schemeClr val="tx1"/>
                </a:solidFill>
                <a:latin typeface="Times New Roman" panose="02020603050405020304" pitchFamily="18" charset="0"/>
                <a:cs typeface="Times New Roman" panose="02020603050405020304" pitchFamily="18" charset="0"/>
              </a:rPr>
              <a:t>Context-Aware Analysis</a:t>
            </a:r>
            <a:r>
              <a:rPr lang="en-US" sz="1800" dirty="0">
                <a:solidFill>
                  <a:schemeClr val="tx1"/>
                </a:solidFill>
                <a:latin typeface="Times New Roman" panose="02020603050405020304" pitchFamily="18" charset="0"/>
                <a:cs typeface="Times New Roman" panose="02020603050405020304" pitchFamily="18" charset="0"/>
              </a:rPr>
              <a:t> – Understands the real meaning of tweets, including emotions and sarcasm.</a:t>
            </a:r>
          </a:p>
          <a:p>
            <a:r>
              <a:rPr lang="en-US" sz="1800" b="1" dirty="0">
                <a:solidFill>
                  <a:schemeClr val="tx1"/>
                </a:solidFill>
                <a:latin typeface="Times New Roman" panose="02020603050405020304" pitchFamily="18" charset="0"/>
                <a:cs typeface="Times New Roman" panose="02020603050405020304" pitchFamily="18" charset="0"/>
              </a:rPr>
              <a:t>Class Balancing</a:t>
            </a:r>
            <a:r>
              <a:rPr lang="en-US" sz="1800" dirty="0">
                <a:solidFill>
                  <a:schemeClr val="tx1"/>
                </a:solidFill>
                <a:latin typeface="Times New Roman" panose="02020603050405020304" pitchFamily="18" charset="0"/>
                <a:cs typeface="Times New Roman" panose="02020603050405020304" pitchFamily="18" charset="0"/>
              </a:rPr>
              <a:t> – Uses SMOTE to balance positive, neutral, and negative tweets.</a:t>
            </a:r>
          </a:p>
          <a:p>
            <a:r>
              <a:rPr lang="en-US" sz="1800" b="1" dirty="0">
                <a:solidFill>
                  <a:schemeClr val="tx1"/>
                </a:solidFill>
                <a:latin typeface="Times New Roman" panose="02020603050405020304" pitchFamily="18" charset="0"/>
                <a:cs typeface="Times New Roman" panose="02020603050405020304" pitchFamily="18" charset="0"/>
              </a:rPr>
              <a:t>Real-Time Design</a:t>
            </a:r>
            <a:r>
              <a:rPr lang="en-US" sz="1800" dirty="0">
                <a:solidFill>
                  <a:schemeClr val="tx1"/>
                </a:solidFill>
                <a:latin typeface="Times New Roman" panose="02020603050405020304" pitchFamily="18" charset="0"/>
                <a:cs typeface="Times New Roman" panose="02020603050405020304" pitchFamily="18" charset="0"/>
              </a:rPr>
              <a:t> – Supports fast and continuous analysis of Twitter sentiment.</a:t>
            </a:r>
          </a:p>
          <a:p>
            <a:pPr marL="37719" indent="0">
              <a:buNone/>
            </a:pP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896744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4F1400-962A-1A67-4A3E-125D717102A8}"/>
              </a:ext>
            </a:extLst>
          </p:cNvPr>
          <p:cNvSpPr>
            <a:spLocks noGrp="1"/>
          </p:cNvSpPr>
          <p:nvPr>
            <p:ph type="title"/>
          </p:nvPr>
        </p:nvSpPr>
        <p:spPr>
          <a:xfrm>
            <a:off x="979360" y="442332"/>
            <a:ext cx="8099679" cy="685800"/>
          </a:xfrm>
        </p:spPr>
        <p:txBody>
          <a:bodyPr>
            <a:normAutofit/>
          </a:bodyPr>
          <a:lstStyle/>
          <a:p>
            <a:r>
              <a:rPr lang="en-IN" sz="3200" b="1" dirty="0">
                <a:solidFill>
                  <a:srgbClr val="7030A0"/>
                </a:solidFill>
                <a:latin typeface="Times New Roman" panose="02020603050405020304" pitchFamily="18" charset="0"/>
                <a:cs typeface="Times New Roman" panose="02020603050405020304" pitchFamily="18" charset="0"/>
              </a:rPr>
              <a:t>                     ARCHITECTURE</a:t>
            </a:r>
          </a:p>
        </p:txBody>
      </p:sp>
      <p:pic>
        <p:nvPicPr>
          <p:cNvPr id="4" name="Content Placeholder 3" descr="A diagram of a computer system&#10;&#10;AI-generated content may be incorrect.">
            <a:extLst>
              <a:ext uri="{FF2B5EF4-FFF2-40B4-BE49-F238E27FC236}">
                <a16:creationId xmlns:a16="http://schemas.microsoft.com/office/drawing/2014/main" id="{8FA42D04-9826-ACE5-844A-AF29DD1A4472}"/>
              </a:ext>
            </a:extLst>
          </p:cNvPr>
          <p:cNvPicPr>
            <a:picLocks noGrp="1" noChangeAspect="1"/>
          </p:cNvPicPr>
          <p:nvPr>
            <p:ph idx="1"/>
          </p:nvPr>
        </p:nvPicPr>
        <p:blipFill rotWithShape="1">
          <a:blip r:embed="rId2" cstate="print">
            <a:extLst>
              <a:ext uri="{28A0092B-C50C-407E-A947-70E740481C1C}">
                <a14:useLocalDpi xmlns:a14="http://schemas.microsoft.com/office/drawing/2010/main" val="0"/>
              </a:ext>
            </a:extLst>
          </a:blip>
          <a:srcRect l="2449" t="5770" r="2255" b="6378"/>
          <a:stretch>
            <a:fillRect/>
          </a:stretch>
        </p:blipFill>
        <p:spPr bwMode="auto">
          <a:xfrm>
            <a:off x="1257299" y="1828800"/>
            <a:ext cx="7543800" cy="411480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6960155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A49F6-24E3-1A48-1631-DC9E4DEABF38}"/>
              </a:ext>
            </a:extLst>
          </p:cNvPr>
          <p:cNvSpPr>
            <a:spLocks noGrp="1"/>
          </p:cNvSpPr>
          <p:nvPr>
            <p:ph type="title"/>
          </p:nvPr>
        </p:nvSpPr>
        <p:spPr>
          <a:xfrm>
            <a:off x="942975" y="690880"/>
            <a:ext cx="8147304" cy="833120"/>
          </a:xfrm>
        </p:spPr>
        <p:txBody>
          <a:bodyPr>
            <a:normAutofit/>
          </a:bodyPr>
          <a:lstStyle/>
          <a:p>
            <a:r>
              <a:rPr lang="en-IN" sz="3200" b="1" dirty="0">
                <a:solidFill>
                  <a:srgbClr val="7030A0"/>
                </a:solidFill>
                <a:latin typeface="Times New Roman" panose="02020603050405020304" pitchFamily="18" charset="0"/>
                <a:cs typeface="Times New Roman" panose="02020603050405020304" pitchFamily="18" charset="0"/>
              </a:rPr>
              <a:t>                             MODULES</a:t>
            </a:r>
          </a:p>
        </p:txBody>
      </p:sp>
      <p:sp>
        <p:nvSpPr>
          <p:cNvPr id="3" name="Content Placeholder 2">
            <a:extLst>
              <a:ext uri="{FF2B5EF4-FFF2-40B4-BE49-F238E27FC236}">
                <a16:creationId xmlns:a16="http://schemas.microsoft.com/office/drawing/2014/main" id="{8317F134-49AF-A667-1567-7AF583776591}"/>
              </a:ext>
            </a:extLst>
          </p:cNvPr>
          <p:cNvSpPr>
            <a:spLocks noGrp="1"/>
          </p:cNvSpPr>
          <p:nvPr>
            <p:ph idx="1"/>
          </p:nvPr>
        </p:nvSpPr>
        <p:spPr>
          <a:xfrm>
            <a:off x="942977" y="1752600"/>
            <a:ext cx="8145118" cy="5156200"/>
          </a:xfrm>
        </p:spPr>
        <p:txBody>
          <a:bodyPr>
            <a:normAutofit/>
          </a:bodyPr>
          <a:lstStyle/>
          <a:p>
            <a:pPr marL="37719" indent="0">
              <a:buNone/>
            </a:pPr>
            <a:r>
              <a:rPr lang="en-US" sz="1800" b="1" dirty="0">
                <a:solidFill>
                  <a:schemeClr val="tx1"/>
                </a:solidFill>
                <a:latin typeface="Times New Roman" panose="02020603050405020304" pitchFamily="18" charset="0"/>
                <a:cs typeface="Times New Roman" panose="02020603050405020304" pitchFamily="18" charset="0"/>
              </a:rPr>
              <a:t>1. Data Gathering</a:t>
            </a:r>
          </a:p>
          <a:p>
            <a:r>
              <a:rPr lang="en-US" sz="1800" dirty="0">
                <a:solidFill>
                  <a:schemeClr val="tx1"/>
                </a:solidFill>
                <a:latin typeface="Times New Roman" panose="02020603050405020304" pitchFamily="18" charset="0"/>
                <a:cs typeface="Times New Roman" panose="02020603050405020304" pitchFamily="18" charset="0"/>
              </a:rPr>
              <a:t>Tweets are collected from </a:t>
            </a:r>
            <a:r>
              <a:rPr lang="en-US" sz="1800" b="1" dirty="0">
                <a:solidFill>
                  <a:schemeClr val="tx1"/>
                </a:solidFill>
                <a:latin typeface="Times New Roman" panose="02020603050405020304" pitchFamily="18" charset="0"/>
                <a:cs typeface="Times New Roman" panose="02020603050405020304" pitchFamily="18" charset="0"/>
              </a:rPr>
              <a:t>Twitter</a:t>
            </a:r>
            <a:r>
              <a:rPr lang="en-US" sz="1800" dirty="0">
                <a:solidFill>
                  <a:schemeClr val="tx1"/>
                </a:solidFill>
                <a:latin typeface="Times New Roman" panose="02020603050405020304" pitchFamily="18" charset="0"/>
                <a:cs typeface="Times New Roman" panose="02020603050405020304" pitchFamily="18" charset="0"/>
              </a:rPr>
              <a:t> using war-related keywords and hashtags (like #Ukraine, #Russia, #RussiaUkraineWar).</a:t>
            </a:r>
          </a:p>
          <a:p>
            <a:r>
              <a:rPr lang="en-US" sz="1800" dirty="0">
                <a:solidFill>
                  <a:schemeClr val="tx1"/>
                </a:solidFill>
                <a:latin typeface="Times New Roman" panose="02020603050405020304" pitchFamily="18" charset="0"/>
                <a:cs typeface="Times New Roman" panose="02020603050405020304" pitchFamily="18" charset="0"/>
              </a:rPr>
              <a:t>The data includes text, emojis, hashtags, and mentions in different languages.</a:t>
            </a:r>
          </a:p>
          <a:p>
            <a:r>
              <a:rPr lang="en-US" sz="1800" dirty="0">
                <a:solidFill>
                  <a:schemeClr val="tx1"/>
                </a:solidFill>
                <a:latin typeface="Times New Roman" panose="02020603050405020304" pitchFamily="18" charset="0"/>
                <a:cs typeface="Times New Roman" panose="02020603050405020304" pitchFamily="18" charset="0"/>
              </a:rPr>
              <a:t>All the collected data is stored safely in a </a:t>
            </a:r>
            <a:r>
              <a:rPr lang="en-US" sz="1800" b="1" dirty="0">
                <a:solidFill>
                  <a:schemeClr val="tx1"/>
                </a:solidFill>
                <a:latin typeface="Times New Roman" panose="02020603050405020304" pitchFamily="18" charset="0"/>
                <a:cs typeface="Times New Roman" panose="02020603050405020304" pitchFamily="18" charset="0"/>
              </a:rPr>
              <a:t>Redis database</a:t>
            </a:r>
            <a:r>
              <a:rPr lang="en-US" sz="1800" dirty="0">
                <a:solidFill>
                  <a:schemeClr val="tx1"/>
                </a:solidFill>
                <a:latin typeface="Times New Roman" panose="02020603050405020304" pitchFamily="18" charset="0"/>
                <a:cs typeface="Times New Roman" panose="02020603050405020304" pitchFamily="18" charset="0"/>
              </a:rPr>
              <a:t> for easy access.</a:t>
            </a:r>
            <a:br>
              <a:rPr lang="en-US" sz="1800" dirty="0">
                <a:solidFill>
                  <a:schemeClr val="tx1"/>
                </a:solidFill>
                <a:latin typeface="Times New Roman" panose="02020603050405020304" pitchFamily="18" charset="0"/>
                <a:cs typeface="Times New Roman" panose="02020603050405020304" pitchFamily="18" charset="0"/>
              </a:rPr>
            </a:br>
            <a:endParaRPr lang="en-US" sz="1800" dirty="0">
              <a:solidFill>
                <a:schemeClr val="tx1"/>
              </a:solidFill>
              <a:latin typeface="Times New Roman" panose="02020603050405020304" pitchFamily="18" charset="0"/>
              <a:cs typeface="Times New Roman" panose="02020603050405020304" pitchFamily="18" charset="0"/>
            </a:endParaRPr>
          </a:p>
          <a:p>
            <a:pPr marL="37719" indent="0">
              <a:buNone/>
            </a:pPr>
            <a:r>
              <a:rPr lang="en-US" sz="1800" b="1" dirty="0">
                <a:solidFill>
                  <a:schemeClr val="tx1"/>
                </a:solidFill>
                <a:latin typeface="Times New Roman" panose="02020603050405020304" pitchFamily="18" charset="0"/>
                <a:cs typeface="Times New Roman" panose="02020603050405020304" pitchFamily="18" charset="0"/>
              </a:rPr>
              <a:t>2. Data Preprocessing</a:t>
            </a:r>
          </a:p>
          <a:p>
            <a:r>
              <a:rPr lang="en-US" sz="1800" dirty="0">
                <a:solidFill>
                  <a:schemeClr val="tx1"/>
                </a:solidFill>
                <a:latin typeface="Times New Roman" panose="02020603050405020304" pitchFamily="18" charset="0"/>
                <a:cs typeface="Times New Roman" panose="02020603050405020304" pitchFamily="18" charset="0"/>
              </a:rPr>
              <a:t>The tweets are cleaned to remove unwanted things like links, symbols, and extra spaces.</a:t>
            </a:r>
          </a:p>
          <a:p>
            <a:r>
              <a:rPr lang="en-US" sz="1800" dirty="0">
                <a:solidFill>
                  <a:schemeClr val="tx1"/>
                </a:solidFill>
                <a:latin typeface="Times New Roman" panose="02020603050405020304" pitchFamily="18" charset="0"/>
                <a:cs typeface="Times New Roman" panose="02020603050405020304" pitchFamily="18" charset="0"/>
              </a:rPr>
              <a:t>Important parts such as </a:t>
            </a:r>
            <a:r>
              <a:rPr lang="en-US" sz="1800" b="1" dirty="0">
                <a:solidFill>
                  <a:schemeClr val="tx1"/>
                </a:solidFill>
                <a:latin typeface="Times New Roman" panose="02020603050405020304" pitchFamily="18" charset="0"/>
                <a:cs typeface="Times New Roman" panose="02020603050405020304" pitchFamily="18" charset="0"/>
              </a:rPr>
              <a:t>hashtags, emojis, and mentions</a:t>
            </a:r>
            <a:r>
              <a:rPr lang="en-US" sz="1800" dirty="0">
                <a:solidFill>
                  <a:schemeClr val="tx1"/>
                </a:solidFill>
                <a:latin typeface="Times New Roman" panose="02020603050405020304" pitchFamily="18" charset="0"/>
                <a:cs typeface="Times New Roman" panose="02020603050405020304" pitchFamily="18" charset="0"/>
              </a:rPr>
              <a:t> are kept because they show emotions.</a:t>
            </a:r>
          </a:p>
          <a:p>
            <a:r>
              <a:rPr lang="en-US" sz="1800" dirty="0">
                <a:solidFill>
                  <a:schemeClr val="tx1"/>
                </a:solidFill>
                <a:latin typeface="Times New Roman" panose="02020603050405020304" pitchFamily="18" charset="0"/>
                <a:cs typeface="Times New Roman" panose="02020603050405020304" pitchFamily="18" charset="0"/>
              </a:rPr>
              <a:t>Text is converted into a proper format by handling multiple languages, slang, and abbreviations.</a:t>
            </a:r>
            <a:br>
              <a:rPr lang="en-US" sz="1800" dirty="0">
                <a:solidFill>
                  <a:schemeClr val="tx1"/>
                </a:solidFill>
                <a:latin typeface="Times New Roman" panose="02020603050405020304" pitchFamily="18" charset="0"/>
                <a:cs typeface="Times New Roman" panose="02020603050405020304" pitchFamily="18" charset="0"/>
              </a:rPr>
            </a:br>
            <a:endParaRPr lang="en-US" sz="1800" dirty="0">
              <a:solidFill>
                <a:schemeClr val="tx1"/>
              </a:solidFill>
              <a:latin typeface="Times New Roman" panose="02020603050405020304" pitchFamily="18" charset="0"/>
              <a:cs typeface="Times New Roman" panose="02020603050405020304" pitchFamily="18" charset="0"/>
            </a:endParaRPr>
          </a:p>
          <a:p>
            <a:pPr marL="37719" indent="0">
              <a:buNone/>
            </a:pPr>
            <a:endParaRPr lang="en-IN" sz="18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303027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D549035-9F88-934A-F8FA-A6D9AE1A8DCB}"/>
              </a:ext>
            </a:extLst>
          </p:cNvPr>
          <p:cNvSpPr>
            <a:spLocks noGrp="1"/>
          </p:cNvSpPr>
          <p:nvPr>
            <p:ph idx="1"/>
          </p:nvPr>
        </p:nvSpPr>
        <p:spPr>
          <a:xfrm>
            <a:off x="952500" y="1333500"/>
            <a:ext cx="8153400" cy="5105400"/>
          </a:xfrm>
        </p:spPr>
        <p:txBody>
          <a:bodyPr>
            <a:normAutofit/>
          </a:bodyPr>
          <a:lstStyle/>
          <a:p>
            <a:pPr marL="37719" indent="0">
              <a:buNone/>
            </a:pPr>
            <a:r>
              <a:rPr lang="en-US" sz="1800" b="1" dirty="0">
                <a:solidFill>
                  <a:schemeClr val="tx1"/>
                </a:solidFill>
                <a:latin typeface="Times New Roman" panose="02020603050405020304" pitchFamily="18" charset="0"/>
                <a:cs typeface="Times New Roman" panose="02020603050405020304" pitchFamily="18" charset="0"/>
              </a:rPr>
              <a:t>3. Text Vectorization / Representation</a:t>
            </a:r>
          </a:p>
          <a:p>
            <a:r>
              <a:rPr lang="en-US" sz="1800" dirty="0">
                <a:solidFill>
                  <a:schemeClr val="tx1"/>
                </a:solidFill>
                <a:latin typeface="Times New Roman" panose="02020603050405020304" pitchFamily="18" charset="0"/>
                <a:cs typeface="Times New Roman" panose="02020603050405020304" pitchFamily="18" charset="0"/>
              </a:rPr>
              <a:t>The </a:t>
            </a:r>
            <a:r>
              <a:rPr lang="en-US" sz="1800" b="1" dirty="0">
                <a:solidFill>
                  <a:schemeClr val="tx1"/>
                </a:solidFill>
                <a:latin typeface="Times New Roman" panose="02020603050405020304" pitchFamily="18" charset="0"/>
                <a:cs typeface="Times New Roman" panose="02020603050405020304" pitchFamily="18" charset="0"/>
              </a:rPr>
              <a:t>RoBERTa model</a:t>
            </a:r>
            <a:r>
              <a:rPr lang="en-US" sz="1800" dirty="0">
                <a:solidFill>
                  <a:schemeClr val="tx1"/>
                </a:solidFill>
                <a:latin typeface="Times New Roman" panose="02020603050405020304" pitchFamily="18" charset="0"/>
                <a:cs typeface="Times New Roman" panose="02020603050405020304" pitchFamily="18" charset="0"/>
              </a:rPr>
              <a:t> is used to change the text into numbers (called embeddings).</a:t>
            </a:r>
          </a:p>
          <a:p>
            <a:r>
              <a:rPr lang="en-US" sz="1800" dirty="0">
                <a:solidFill>
                  <a:schemeClr val="tx1"/>
                </a:solidFill>
                <a:latin typeface="Times New Roman" panose="02020603050405020304" pitchFamily="18" charset="0"/>
                <a:cs typeface="Times New Roman" panose="02020603050405020304" pitchFamily="18" charset="0"/>
              </a:rPr>
              <a:t>These embeddings help the computer understand the </a:t>
            </a:r>
            <a:r>
              <a:rPr lang="en-US" sz="1800" b="1" dirty="0">
                <a:solidFill>
                  <a:schemeClr val="tx1"/>
                </a:solidFill>
                <a:latin typeface="Times New Roman" panose="02020603050405020304" pitchFamily="18" charset="0"/>
                <a:cs typeface="Times New Roman" panose="02020603050405020304" pitchFamily="18" charset="0"/>
              </a:rPr>
              <a:t>meaning and emotion</a:t>
            </a:r>
            <a:r>
              <a:rPr lang="en-US" sz="1800" dirty="0">
                <a:solidFill>
                  <a:schemeClr val="tx1"/>
                </a:solidFill>
                <a:latin typeface="Times New Roman" panose="02020603050405020304" pitchFamily="18" charset="0"/>
                <a:cs typeface="Times New Roman" panose="02020603050405020304" pitchFamily="18" charset="0"/>
              </a:rPr>
              <a:t> behind each tweet.</a:t>
            </a:r>
          </a:p>
          <a:p>
            <a:r>
              <a:rPr lang="en-US" sz="1800" dirty="0">
                <a:solidFill>
                  <a:schemeClr val="tx1"/>
                </a:solidFill>
                <a:latin typeface="Times New Roman" panose="02020603050405020304" pitchFamily="18" charset="0"/>
                <a:cs typeface="Times New Roman" panose="02020603050405020304" pitchFamily="18" charset="0"/>
              </a:rPr>
              <a:t>This step captures sarcasm, mixed languages, and deeper context from tweets.</a:t>
            </a:r>
          </a:p>
          <a:p>
            <a:pPr marL="37719" indent="0">
              <a:buNone/>
            </a:pPr>
            <a:endParaRPr lang="en-US" sz="1800" dirty="0">
              <a:solidFill>
                <a:schemeClr val="tx1"/>
              </a:solidFill>
              <a:latin typeface="Times New Roman" panose="02020603050405020304" pitchFamily="18" charset="0"/>
              <a:cs typeface="Times New Roman" panose="02020603050405020304" pitchFamily="18" charset="0"/>
            </a:endParaRPr>
          </a:p>
          <a:p>
            <a:endParaRPr lang="en-US" sz="1800" dirty="0">
              <a:solidFill>
                <a:schemeClr val="tx1"/>
              </a:solidFill>
              <a:latin typeface="Times New Roman" panose="02020603050405020304" pitchFamily="18" charset="0"/>
              <a:cs typeface="Times New Roman" panose="02020603050405020304" pitchFamily="18" charset="0"/>
            </a:endParaRPr>
          </a:p>
          <a:p>
            <a:pPr marL="37719" indent="0">
              <a:buNone/>
            </a:pPr>
            <a:r>
              <a:rPr lang="en-US" sz="1800" b="1" dirty="0">
                <a:solidFill>
                  <a:schemeClr val="tx1"/>
                </a:solidFill>
                <a:latin typeface="Times New Roman" panose="02020603050405020304" pitchFamily="18" charset="0"/>
                <a:cs typeface="Times New Roman" panose="02020603050405020304" pitchFamily="18" charset="0"/>
              </a:rPr>
              <a:t>4. Model Building</a:t>
            </a:r>
          </a:p>
          <a:p>
            <a:r>
              <a:rPr lang="en-US" sz="1800" dirty="0">
                <a:solidFill>
                  <a:schemeClr val="tx1"/>
                </a:solidFill>
                <a:latin typeface="Times New Roman" panose="02020603050405020304" pitchFamily="18" charset="0"/>
                <a:cs typeface="Times New Roman" panose="02020603050405020304" pitchFamily="18" charset="0"/>
              </a:rPr>
              <a:t>A </a:t>
            </a:r>
            <a:r>
              <a:rPr lang="en-US" sz="1800" b="1" dirty="0">
                <a:solidFill>
                  <a:schemeClr val="tx1"/>
                </a:solidFill>
                <a:latin typeface="Times New Roman" panose="02020603050405020304" pitchFamily="18" charset="0"/>
                <a:cs typeface="Times New Roman" panose="02020603050405020304" pitchFamily="18" charset="0"/>
              </a:rPr>
              <a:t>hybrid model</a:t>
            </a:r>
            <a:r>
              <a:rPr lang="en-US" sz="1800" dirty="0">
                <a:solidFill>
                  <a:schemeClr val="tx1"/>
                </a:solidFill>
                <a:latin typeface="Times New Roman" panose="02020603050405020304" pitchFamily="18" charset="0"/>
                <a:cs typeface="Times New Roman" panose="02020603050405020304" pitchFamily="18" charset="0"/>
              </a:rPr>
              <a:t> is created using two parts:</a:t>
            </a:r>
          </a:p>
          <a:p>
            <a:pPr lvl="1"/>
            <a:r>
              <a:rPr lang="en-US" sz="1800" b="1" dirty="0">
                <a:solidFill>
                  <a:schemeClr val="tx1"/>
                </a:solidFill>
                <a:latin typeface="Times New Roman" panose="02020603050405020304" pitchFamily="18" charset="0"/>
                <a:cs typeface="Times New Roman" panose="02020603050405020304" pitchFamily="18" charset="0"/>
              </a:rPr>
              <a:t>RoBERTa</a:t>
            </a:r>
            <a:r>
              <a:rPr lang="en-US" sz="1800" dirty="0">
                <a:solidFill>
                  <a:schemeClr val="tx1"/>
                </a:solidFill>
                <a:latin typeface="Times New Roman" panose="02020603050405020304" pitchFamily="18" charset="0"/>
                <a:cs typeface="Times New Roman" panose="02020603050405020304" pitchFamily="18" charset="0"/>
              </a:rPr>
              <a:t> for understanding and converting text into meaningful data.</a:t>
            </a:r>
          </a:p>
          <a:p>
            <a:pPr lvl="1"/>
            <a:r>
              <a:rPr lang="en-US" sz="1800" b="1" dirty="0">
                <a:solidFill>
                  <a:schemeClr val="tx1"/>
                </a:solidFill>
                <a:latin typeface="Times New Roman" panose="02020603050405020304" pitchFamily="18" charset="0"/>
                <a:cs typeface="Times New Roman" panose="02020603050405020304" pitchFamily="18" charset="0"/>
              </a:rPr>
              <a:t>Ensemble of classifiers</a:t>
            </a:r>
            <a:r>
              <a:rPr lang="en-US" sz="1800" dirty="0">
                <a:solidFill>
                  <a:schemeClr val="tx1"/>
                </a:solidFill>
                <a:latin typeface="Times New Roman" panose="02020603050405020304" pitchFamily="18" charset="0"/>
                <a:cs typeface="Times New Roman" panose="02020603050405020304" pitchFamily="18" charset="0"/>
              </a:rPr>
              <a:t> (like Random Forest, SVM, etc.) that work together to decide the tweet’s sentiment (Positive, Negative, Neutral).</a:t>
            </a:r>
          </a:p>
          <a:p>
            <a:r>
              <a:rPr lang="en-US" sz="1800" dirty="0">
                <a:solidFill>
                  <a:schemeClr val="tx1"/>
                </a:solidFill>
                <a:latin typeface="Times New Roman" panose="02020603050405020304" pitchFamily="18" charset="0"/>
                <a:cs typeface="Times New Roman" panose="02020603050405020304" pitchFamily="18" charset="0"/>
              </a:rPr>
              <a:t>This combination makes the predictions more accurate and reliable.</a:t>
            </a:r>
          </a:p>
          <a:p>
            <a:endParaRPr lang="en-IN" sz="18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256718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137ACD0-E759-A122-CBAD-97985881C620}"/>
              </a:ext>
            </a:extLst>
          </p:cNvPr>
          <p:cNvSpPr>
            <a:spLocks noGrp="1"/>
          </p:cNvSpPr>
          <p:nvPr>
            <p:ph idx="1"/>
          </p:nvPr>
        </p:nvSpPr>
        <p:spPr>
          <a:xfrm>
            <a:off x="956641" y="1454150"/>
            <a:ext cx="8145118" cy="4864100"/>
          </a:xfrm>
        </p:spPr>
        <p:txBody>
          <a:bodyPr>
            <a:normAutofit/>
          </a:bodyPr>
          <a:lstStyle/>
          <a:p>
            <a:r>
              <a:rPr lang="en-US" sz="1800" b="1" dirty="0">
                <a:solidFill>
                  <a:schemeClr val="tx1"/>
                </a:solidFill>
                <a:latin typeface="Times New Roman" panose="02020603050405020304" pitchFamily="18" charset="0"/>
                <a:cs typeface="Times New Roman" panose="02020603050405020304" pitchFamily="18" charset="0"/>
              </a:rPr>
              <a:t>5. Model Evaluation</a:t>
            </a:r>
          </a:p>
          <a:p>
            <a:r>
              <a:rPr lang="en-US" sz="1800" dirty="0">
                <a:solidFill>
                  <a:schemeClr val="tx1"/>
                </a:solidFill>
                <a:latin typeface="Times New Roman" panose="02020603050405020304" pitchFamily="18" charset="0"/>
                <a:cs typeface="Times New Roman" panose="02020603050405020304" pitchFamily="18" charset="0"/>
              </a:rPr>
              <a:t>The model is tested to check how well it works.</a:t>
            </a:r>
          </a:p>
          <a:p>
            <a:r>
              <a:rPr lang="en-US" sz="1800" dirty="0">
                <a:solidFill>
                  <a:schemeClr val="tx1"/>
                </a:solidFill>
                <a:latin typeface="Times New Roman" panose="02020603050405020304" pitchFamily="18" charset="0"/>
                <a:cs typeface="Times New Roman" panose="02020603050405020304" pitchFamily="18" charset="0"/>
              </a:rPr>
              <a:t>Common measures like </a:t>
            </a:r>
            <a:r>
              <a:rPr lang="en-US" sz="1800" b="1" dirty="0">
                <a:solidFill>
                  <a:schemeClr val="tx1"/>
                </a:solidFill>
                <a:latin typeface="Times New Roman" panose="02020603050405020304" pitchFamily="18" charset="0"/>
                <a:cs typeface="Times New Roman" panose="02020603050405020304" pitchFamily="18" charset="0"/>
              </a:rPr>
              <a:t>Accuracy, Precision, Recall, and F1-score</a:t>
            </a:r>
            <a:r>
              <a:rPr lang="en-US" sz="1800" dirty="0">
                <a:solidFill>
                  <a:schemeClr val="tx1"/>
                </a:solidFill>
                <a:latin typeface="Times New Roman" panose="02020603050405020304" pitchFamily="18" charset="0"/>
                <a:cs typeface="Times New Roman" panose="02020603050405020304" pitchFamily="18" charset="0"/>
              </a:rPr>
              <a:t> are used.</a:t>
            </a:r>
          </a:p>
          <a:p>
            <a:r>
              <a:rPr lang="en-US" sz="1800" dirty="0">
                <a:solidFill>
                  <a:schemeClr val="tx1"/>
                </a:solidFill>
                <a:latin typeface="Times New Roman" panose="02020603050405020304" pitchFamily="18" charset="0"/>
                <a:cs typeface="Times New Roman" panose="02020603050405020304" pitchFamily="18" charset="0"/>
              </a:rPr>
              <a:t>The results are compared with older methods to show that this new hybrid model performs better.</a:t>
            </a:r>
          </a:p>
          <a:p>
            <a:pPr marL="37719" indent="0">
              <a:buNone/>
            </a:pPr>
            <a:br>
              <a:rPr lang="en-US" sz="1800" dirty="0">
                <a:solidFill>
                  <a:schemeClr val="tx1"/>
                </a:solidFill>
                <a:latin typeface="Times New Roman" panose="02020603050405020304" pitchFamily="18" charset="0"/>
                <a:cs typeface="Times New Roman" panose="02020603050405020304" pitchFamily="18" charset="0"/>
              </a:rPr>
            </a:br>
            <a:endParaRPr lang="en-US" sz="1800" dirty="0">
              <a:solidFill>
                <a:schemeClr val="tx1"/>
              </a:solidFill>
              <a:latin typeface="Times New Roman" panose="02020603050405020304" pitchFamily="18" charset="0"/>
              <a:cs typeface="Times New Roman" panose="02020603050405020304" pitchFamily="18" charset="0"/>
            </a:endParaRPr>
          </a:p>
          <a:p>
            <a:r>
              <a:rPr lang="en-US" sz="1800" b="1" dirty="0">
                <a:solidFill>
                  <a:schemeClr val="tx1"/>
                </a:solidFill>
                <a:latin typeface="Times New Roman" panose="02020603050405020304" pitchFamily="18" charset="0"/>
                <a:cs typeface="Times New Roman" panose="02020603050405020304" pitchFamily="18" charset="0"/>
              </a:rPr>
              <a:t>6. Prediction</a:t>
            </a:r>
          </a:p>
          <a:p>
            <a:r>
              <a:rPr lang="en-US" sz="1800" dirty="0">
                <a:solidFill>
                  <a:schemeClr val="tx1"/>
                </a:solidFill>
                <a:latin typeface="Times New Roman" panose="02020603050405020304" pitchFamily="18" charset="0"/>
                <a:cs typeface="Times New Roman" panose="02020603050405020304" pitchFamily="18" charset="0"/>
              </a:rPr>
              <a:t>The model is used to predict the sentiment of </a:t>
            </a:r>
            <a:r>
              <a:rPr lang="en-US" sz="1800" b="1" dirty="0">
                <a:solidFill>
                  <a:schemeClr val="tx1"/>
                </a:solidFill>
                <a:latin typeface="Times New Roman" panose="02020603050405020304" pitchFamily="18" charset="0"/>
                <a:cs typeface="Times New Roman" panose="02020603050405020304" pitchFamily="18" charset="0"/>
              </a:rPr>
              <a:t>new tweets in real time</a:t>
            </a:r>
            <a:r>
              <a:rPr lang="en-US" sz="1800" dirty="0">
                <a:solidFill>
                  <a:schemeClr val="tx1"/>
                </a:solidFill>
                <a:latin typeface="Times New Roman" panose="02020603050405020304" pitchFamily="18" charset="0"/>
                <a:cs typeface="Times New Roman" panose="02020603050405020304" pitchFamily="18" charset="0"/>
              </a:rPr>
              <a:t>.</a:t>
            </a:r>
          </a:p>
          <a:p>
            <a:r>
              <a:rPr lang="en-US" sz="1800" dirty="0">
                <a:solidFill>
                  <a:schemeClr val="tx1"/>
                </a:solidFill>
                <a:latin typeface="Times New Roman" panose="02020603050405020304" pitchFamily="18" charset="0"/>
                <a:cs typeface="Times New Roman" panose="02020603050405020304" pitchFamily="18" charset="0"/>
              </a:rPr>
              <a:t>New tweets are cleaned, converted into embeddings, and then passed through the trained model.</a:t>
            </a:r>
          </a:p>
          <a:p>
            <a:r>
              <a:rPr lang="en-US" sz="1800" dirty="0">
                <a:solidFill>
                  <a:schemeClr val="tx1"/>
                </a:solidFill>
                <a:latin typeface="Times New Roman" panose="02020603050405020304" pitchFamily="18" charset="0"/>
                <a:cs typeface="Times New Roman" panose="02020603050405020304" pitchFamily="18" charset="0"/>
              </a:rPr>
              <a:t>The final output (Positive, Negative, or Neutral) is shown through a </a:t>
            </a:r>
            <a:r>
              <a:rPr lang="en-US" sz="1800" b="1" dirty="0" err="1">
                <a:solidFill>
                  <a:schemeClr val="tx1"/>
                </a:solidFill>
                <a:latin typeface="Times New Roman" panose="02020603050405020304" pitchFamily="18" charset="0"/>
                <a:cs typeface="Times New Roman" panose="02020603050405020304" pitchFamily="18" charset="0"/>
              </a:rPr>
              <a:t>Tkinter</a:t>
            </a:r>
            <a:r>
              <a:rPr lang="en-US" sz="1800" b="1" dirty="0">
                <a:solidFill>
                  <a:schemeClr val="tx1"/>
                </a:solidFill>
                <a:latin typeface="Times New Roman" panose="02020603050405020304" pitchFamily="18" charset="0"/>
                <a:cs typeface="Times New Roman" panose="02020603050405020304" pitchFamily="18" charset="0"/>
              </a:rPr>
              <a:t> GUI</a:t>
            </a:r>
            <a:r>
              <a:rPr lang="en-US" sz="1800" dirty="0">
                <a:solidFill>
                  <a:schemeClr val="tx1"/>
                </a:solidFill>
                <a:latin typeface="Times New Roman" panose="02020603050405020304" pitchFamily="18" charset="0"/>
                <a:cs typeface="Times New Roman" panose="02020603050405020304" pitchFamily="18" charset="0"/>
              </a:rPr>
              <a:t> interface</a:t>
            </a:r>
            <a:r>
              <a:rPr lang="en-US" sz="1800" dirty="0"/>
              <a:t>.</a:t>
            </a:r>
          </a:p>
        </p:txBody>
      </p:sp>
    </p:spTree>
    <p:extLst>
      <p:ext uri="{BB962C8B-B14F-4D97-AF65-F5344CB8AC3E}">
        <p14:creationId xmlns:p14="http://schemas.microsoft.com/office/powerpoint/2010/main" val="36122575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F78F0E-BE2B-DC92-EE52-646C8E9D71B8}"/>
              </a:ext>
            </a:extLst>
          </p:cNvPr>
          <p:cNvSpPr>
            <a:spLocks noGrp="1"/>
          </p:cNvSpPr>
          <p:nvPr>
            <p:ph type="title"/>
          </p:nvPr>
        </p:nvSpPr>
        <p:spPr>
          <a:xfrm>
            <a:off x="3276600" y="304800"/>
            <a:ext cx="3505200" cy="365760"/>
          </a:xfrm>
        </p:spPr>
        <p:txBody>
          <a:bodyPr>
            <a:normAutofit fontScale="90000"/>
          </a:bodyPr>
          <a:lstStyle/>
          <a:p>
            <a:r>
              <a:rPr lang="en-IN" sz="3200" b="1" dirty="0">
                <a:solidFill>
                  <a:srgbClr val="7030A0"/>
                </a:solidFill>
                <a:latin typeface="Times New Roman" panose="02020603050405020304" pitchFamily="18" charset="0"/>
                <a:cs typeface="Times New Roman" panose="02020603050405020304" pitchFamily="18" charset="0"/>
              </a:rPr>
              <a:t>UML DIAGRAMS</a:t>
            </a:r>
          </a:p>
        </p:txBody>
      </p:sp>
      <p:sp>
        <p:nvSpPr>
          <p:cNvPr id="3" name="Content Placeholder 2">
            <a:extLst>
              <a:ext uri="{FF2B5EF4-FFF2-40B4-BE49-F238E27FC236}">
                <a16:creationId xmlns:a16="http://schemas.microsoft.com/office/drawing/2014/main" id="{3E795622-0259-B01E-684C-3F35404CD07B}"/>
              </a:ext>
            </a:extLst>
          </p:cNvPr>
          <p:cNvSpPr>
            <a:spLocks noGrp="1"/>
          </p:cNvSpPr>
          <p:nvPr>
            <p:ph idx="1"/>
          </p:nvPr>
        </p:nvSpPr>
        <p:spPr>
          <a:xfrm>
            <a:off x="457200" y="762000"/>
            <a:ext cx="9144000" cy="6477000"/>
          </a:xfrm>
        </p:spPr>
        <p:txBody>
          <a:bodyPr>
            <a:normAutofit/>
          </a:bodyPr>
          <a:lstStyle/>
          <a:p>
            <a:pPr marL="37719" indent="0">
              <a:buNone/>
            </a:pPr>
            <a:r>
              <a:rPr lang="en-IN" sz="2000" b="1" dirty="0">
                <a:solidFill>
                  <a:schemeClr val="tx1"/>
                </a:solidFill>
                <a:latin typeface="Times New Roman" panose="02020603050405020304" pitchFamily="18" charset="0"/>
                <a:cs typeface="Times New Roman" panose="02020603050405020304" pitchFamily="18" charset="0"/>
              </a:rPr>
              <a:t>Use Case Diagram</a:t>
            </a:r>
            <a:r>
              <a:rPr lang="en-IN" sz="2000" dirty="0">
                <a:solidFill>
                  <a:schemeClr val="tx1"/>
                </a:solidFill>
                <a:latin typeface="Times New Roman" panose="02020603050405020304" pitchFamily="18" charset="0"/>
                <a:cs typeface="Times New Roman" panose="02020603050405020304" pitchFamily="18" charset="0"/>
              </a:rPr>
              <a:t>:</a:t>
            </a:r>
          </a:p>
        </p:txBody>
      </p:sp>
      <p:pic>
        <p:nvPicPr>
          <p:cNvPr id="4" name="Picture 3">
            <a:extLst>
              <a:ext uri="{FF2B5EF4-FFF2-40B4-BE49-F238E27FC236}">
                <a16:creationId xmlns:a16="http://schemas.microsoft.com/office/drawing/2014/main" id="{C77ECC49-9F61-68A8-5836-7C177FC06AD2}"/>
              </a:ext>
            </a:extLst>
          </p:cNvPr>
          <p:cNvPicPr>
            <a:picLocks noChangeAspect="1"/>
          </p:cNvPicPr>
          <p:nvPr/>
        </p:nvPicPr>
        <p:blipFill>
          <a:blip r:embed="rId2" cstate="print"/>
          <a:srcRect t="3312"/>
          <a:stretch>
            <a:fillRect/>
          </a:stretch>
        </p:blipFill>
        <p:spPr bwMode="auto">
          <a:xfrm>
            <a:off x="2743200" y="767576"/>
            <a:ext cx="4876800" cy="6471424"/>
          </a:xfrm>
          <a:prstGeom prst="rect">
            <a:avLst/>
          </a:prstGeom>
          <a:noFill/>
          <a:ln w="9525">
            <a:noFill/>
            <a:miter lim="800000"/>
            <a:headEnd/>
            <a:tailEnd/>
          </a:ln>
        </p:spPr>
      </p:pic>
    </p:spTree>
    <p:extLst>
      <p:ext uri="{BB962C8B-B14F-4D97-AF65-F5344CB8AC3E}">
        <p14:creationId xmlns:p14="http://schemas.microsoft.com/office/powerpoint/2010/main" val="8264885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19086A-37DB-2D9C-52CD-D86D27C60D8B}"/>
              </a:ext>
            </a:extLst>
          </p:cNvPr>
          <p:cNvSpPr>
            <a:spLocks noGrp="1"/>
          </p:cNvSpPr>
          <p:nvPr>
            <p:ph idx="1"/>
          </p:nvPr>
        </p:nvSpPr>
        <p:spPr>
          <a:xfrm>
            <a:off x="762000" y="685800"/>
            <a:ext cx="8610600" cy="6553200"/>
          </a:xfrm>
        </p:spPr>
        <p:txBody>
          <a:bodyPr>
            <a:normAutofit/>
          </a:bodyPr>
          <a:lstStyle/>
          <a:p>
            <a:pPr marL="37719" indent="0">
              <a:buNone/>
            </a:pPr>
            <a:r>
              <a:rPr lang="en-IN" sz="2000" b="1" dirty="0">
                <a:solidFill>
                  <a:schemeClr val="tx1"/>
                </a:solidFill>
                <a:latin typeface="Times New Roman" panose="02020603050405020304" pitchFamily="18" charset="0"/>
                <a:cs typeface="Times New Roman" panose="02020603050405020304" pitchFamily="18" charset="0"/>
              </a:rPr>
              <a:t>Class Diagram:</a:t>
            </a:r>
          </a:p>
        </p:txBody>
      </p:sp>
      <p:pic>
        <p:nvPicPr>
          <p:cNvPr id="4" name="Picture 3">
            <a:extLst>
              <a:ext uri="{FF2B5EF4-FFF2-40B4-BE49-F238E27FC236}">
                <a16:creationId xmlns:a16="http://schemas.microsoft.com/office/drawing/2014/main" id="{99D360A5-7382-B0EF-088E-DEAFE666DF52}"/>
              </a:ext>
            </a:extLst>
          </p:cNvPr>
          <p:cNvPicPr>
            <a:picLocks noChangeAspect="1"/>
          </p:cNvPicPr>
          <p:nvPr/>
        </p:nvPicPr>
        <p:blipFill>
          <a:blip r:embed="rId2" cstate="print"/>
          <a:srcRect/>
          <a:stretch>
            <a:fillRect/>
          </a:stretch>
        </p:blipFill>
        <p:spPr bwMode="auto">
          <a:xfrm>
            <a:off x="2667000" y="879633"/>
            <a:ext cx="5731510" cy="6165533"/>
          </a:xfrm>
          <a:prstGeom prst="rect">
            <a:avLst/>
          </a:prstGeom>
          <a:noFill/>
          <a:ln w="9525">
            <a:noFill/>
            <a:miter lim="800000"/>
            <a:headEnd/>
            <a:tailEnd/>
          </a:ln>
        </p:spPr>
      </p:pic>
    </p:spTree>
    <p:extLst>
      <p:ext uri="{BB962C8B-B14F-4D97-AF65-F5344CB8AC3E}">
        <p14:creationId xmlns:p14="http://schemas.microsoft.com/office/powerpoint/2010/main" val="10235984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ABBF3FD-2C3D-E6B6-FBC4-9E7E5C4921C9}"/>
              </a:ext>
            </a:extLst>
          </p:cNvPr>
          <p:cNvSpPr>
            <a:spLocks noGrp="1"/>
          </p:cNvSpPr>
          <p:nvPr>
            <p:ph idx="1"/>
          </p:nvPr>
        </p:nvSpPr>
        <p:spPr>
          <a:xfrm>
            <a:off x="609600" y="609600"/>
            <a:ext cx="8686800" cy="6553200"/>
          </a:xfrm>
        </p:spPr>
        <p:txBody>
          <a:bodyPr>
            <a:normAutofit/>
          </a:bodyPr>
          <a:lstStyle/>
          <a:p>
            <a:pPr marL="37719" indent="0">
              <a:buNone/>
            </a:pPr>
            <a:r>
              <a:rPr lang="en-IN" sz="2000" b="1" dirty="0">
                <a:solidFill>
                  <a:schemeClr val="tx1"/>
                </a:solidFill>
                <a:latin typeface="Times New Roman" panose="02020603050405020304" pitchFamily="18" charset="0"/>
                <a:cs typeface="Times New Roman" panose="02020603050405020304" pitchFamily="18" charset="0"/>
              </a:rPr>
              <a:t>Sequence Diagram:</a:t>
            </a:r>
          </a:p>
        </p:txBody>
      </p:sp>
      <p:pic>
        <p:nvPicPr>
          <p:cNvPr id="4" name="Picture 3">
            <a:extLst>
              <a:ext uri="{FF2B5EF4-FFF2-40B4-BE49-F238E27FC236}">
                <a16:creationId xmlns:a16="http://schemas.microsoft.com/office/drawing/2014/main" id="{75A1E363-B2F7-0586-E8D9-07323AF82332}"/>
              </a:ext>
            </a:extLst>
          </p:cNvPr>
          <p:cNvPicPr>
            <a:picLocks noChangeAspect="1"/>
          </p:cNvPicPr>
          <p:nvPr/>
        </p:nvPicPr>
        <p:blipFill>
          <a:blip r:embed="rId2" cstate="print"/>
          <a:srcRect/>
          <a:stretch>
            <a:fillRect/>
          </a:stretch>
        </p:blipFill>
        <p:spPr bwMode="auto">
          <a:xfrm>
            <a:off x="838200" y="1219200"/>
            <a:ext cx="8382000" cy="5486400"/>
          </a:xfrm>
          <a:prstGeom prst="rect">
            <a:avLst/>
          </a:prstGeom>
          <a:noFill/>
          <a:ln w="9525">
            <a:noFill/>
            <a:miter lim="800000"/>
            <a:headEnd/>
            <a:tailEnd/>
          </a:ln>
        </p:spPr>
      </p:pic>
    </p:spTree>
    <p:extLst>
      <p:ext uri="{BB962C8B-B14F-4D97-AF65-F5344CB8AC3E}">
        <p14:creationId xmlns:p14="http://schemas.microsoft.com/office/powerpoint/2010/main" val="9195217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3C5108-F146-7A85-1B15-AB849D32BD33}"/>
              </a:ext>
            </a:extLst>
          </p:cNvPr>
          <p:cNvSpPr>
            <a:spLocks noGrp="1"/>
          </p:cNvSpPr>
          <p:nvPr>
            <p:ph idx="1"/>
          </p:nvPr>
        </p:nvSpPr>
        <p:spPr>
          <a:xfrm>
            <a:off x="457200" y="609600"/>
            <a:ext cx="9144000" cy="6553200"/>
          </a:xfrm>
        </p:spPr>
        <p:txBody>
          <a:bodyPr>
            <a:normAutofit/>
          </a:bodyPr>
          <a:lstStyle/>
          <a:p>
            <a:pPr marL="37719" indent="0">
              <a:buNone/>
            </a:pPr>
            <a:r>
              <a:rPr lang="en-IN" sz="2000" b="1" dirty="0">
                <a:solidFill>
                  <a:schemeClr val="tx1"/>
                </a:solidFill>
                <a:latin typeface="Times New Roman" panose="02020603050405020304" pitchFamily="18" charset="0"/>
                <a:cs typeface="Times New Roman" panose="02020603050405020304" pitchFamily="18" charset="0"/>
              </a:rPr>
              <a:t>Activity Diagram:</a:t>
            </a:r>
          </a:p>
        </p:txBody>
      </p:sp>
      <p:pic>
        <p:nvPicPr>
          <p:cNvPr id="4" name="Picture 3">
            <a:extLst>
              <a:ext uri="{FF2B5EF4-FFF2-40B4-BE49-F238E27FC236}">
                <a16:creationId xmlns:a16="http://schemas.microsoft.com/office/drawing/2014/main" id="{8E29EF20-4319-E7AD-0EFF-D97890E7809F}"/>
              </a:ext>
            </a:extLst>
          </p:cNvPr>
          <p:cNvPicPr>
            <a:picLocks noChangeAspect="1"/>
          </p:cNvPicPr>
          <p:nvPr/>
        </p:nvPicPr>
        <p:blipFill>
          <a:blip r:embed="rId2" cstate="print"/>
          <a:srcRect/>
          <a:stretch>
            <a:fillRect/>
          </a:stretch>
        </p:blipFill>
        <p:spPr bwMode="auto">
          <a:xfrm>
            <a:off x="2971800" y="765176"/>
            <a:ext cx="5791200" cy="6553199"/>
          </a:xfrm>
          <a:prstGeom prst="rect">
            <a:avLst/>
          </a:prstGeom>
          <a:noFill/>
          <a:ln w="9525">
            <a:noFill/>
            <a:miter lim="800000"/>
            <a:headEnd/>
            <a:tailEnd/>
          </a:ln>
        </p:spPr>
      </p:pic>
    </p:spTree>
    <p:extLst>
      <p:ext uri="{BB962C8B-B14F-4D97-AF65-F5344CB8AC3E}">
        <p14:creationId xmlns:p14="http://schemas.microsoft.com/office/powerpoint/2010/main" val="30877799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9093E5-432C-71EB-05FE-6A44BEB26EEE}"/>
              </a:ext>
            </a:extLst>
          </p:cNvPr>
          <p:cNvSpPr>
            <a:spLocks noGrp="1"/>
          </p:cNvSpPr>
          <p:nvPr>
            <p:ph type="title"/>
          </p:nvPr>
        </p:nvSpPr>
        <p:spPr>
          <a:xfrm>
            <a:off x="3305175" y="580044"/>
            <a:ext cx="8147304" cy="1537208"/>
          </a:xfrm>
        </p:spPr>
        <p:txBody>
          <a:bodyPr/>
          <a:lstStyle/>
          <a:p>
            <a:r>
              <a:rPr lang="en-IN" sz="2800" b="1" dirty="0">
                <a:solidFill>
                  <a:srgbClr val="7030A0"/>
                </a:solidFill>
                <a:latin typeface="Times New Roman" panose="02020603050405020304" pitchFamily="18" charset="0"/>
                <a:cs typeface="Times New Roman" panose="02020603050405020304" pitchFamily="18" charset="0"/>
              </a:rPr>
              <a:t>SOURCE CODE</a:t>
            </a:r>
            <a:br>
              <a:rPr lang="en-US" dirty="0"/>
            </a:br>
            <a:endParaRPr lang="en-US" dirty="0"/>
          </a:p>
        </p:txBody>
      </p:sp>
      <p:pic>
        <p:nvPicPr>
          <p:cNvPr id="8" name="Content Placeholder 7">
            <a:extLst>
              <a:ext uri="{FF2B5EF4-FFF2-40B4-BE49-F238E27FC236}">
                <a16:creationId xmlns:a16="http://schemas.microsoft.com/office/drawing/2014/main" id="{BFF00B26-BDFA-3B2B-E4CF-0983A43ECF21}"/>
              </a:ext>
            </a:extLst>
          </p:cNvPr>
          <p:cNvPicPr>
            <a:picLocks noGrp="1" noChangeAspect="1"/>
          </p:cNvPicPr>
          <p:nvPr>
            <p:ph idx="1"/>
          </p:nvPr>
        </p:nvPicPr>
        <p:blipFill>
          <a:blip r:embed="rId2"/>
          <a:stretch>
            <a:fillRect/>
          </a:stretch>
        </p:blipFill>
        <p:spPr>
          <a:xfrm>
            <a:off x="609600" y="1447800"/>
            <a:ext cx="9067799" cy="5461000"/>
          </a:xfrm>
          <a:prstGeom prst="rect">
            <a:avLst/>
          </a:prstGeom>
        </p:spPr>
      </p:pic>
    </p:spTree>
    <p:extLst>
      <p:ext uri="{BB962C8B-B14F-4D97-AF65-F5344CB8AC3E}">
        <p14:creationId xmlns:p14="http://schemas.microsoft.com/office/powerpoint/2010/main" val="35551560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428B4CF-6B52-5580-B3D2-3A62E0ACCC5F}"/>
              </a:ext>
            </a:extLst>
          </p:cNvPr>
          <p:cNvPicPr>
            <a:picLocks noChangeAspect="1"/>
          </p:cNvPicPr>
          <p:nvPr/>
        </p:nvPicPr>
        <p:blipFill>
          <a:blip r:embed="rId2"/>
          <a:stretch>
            <a:fillRect/>
          </a:stretch>
        </p:blipFill>
        <p:spPr>
          <a:xfrm>
            <a:off x="952500" y="1066800"/>
            <a:ext cx="8153400" cy="5638800"/>
          </a:xfrm>
          <a:prstGeom prst="rect">
            <a:avLst/>
          </a:prstGeom>
        </p:spPr>
      </p:pic>
    </p:spTree>
    <p:extLst>
      <p:ext uri="{BB962C8B-B14F-4D97-AF65-F5344CB8AC3E}">
        <p14:creationId xmlns:p14="http://schemas.microsoft.com/office/powerpoint/2010/main" val="13993084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72384C-E0CF-DF8B-96E7-E4C5864D95EF}"/>
              </a:ext>
            </a:extLst>
          </p:cNvPr>
          <p:cNvSpPr>
            <a:spLocks noGrp="1"/>
          </p:cNvSpPr>
          <p:nvPr>
            <p:ph type="title"/>
          </p:nvPr>
        </p:nvSpPr>
        <p:spPr>
          <a:xfrm>
            <a:off x="3733800" y="228600"/>
            <a:ext cx="8147304" cy="1537208"/>
          </a:xfrm>
        </p:spPr>
        <p:txBody>
          <a:bodyPr>
            <a:normAutofit/>
          </a:bodyPr>
          <a:lstStyle/>
          <a:p>
            <a:r>
              <a:rPr lang="en-IN" sz="2800" b="1" dirty="0">
                <a:solidFill>
                  <a:srgbClr val="7030A0"/>
                </a:solidFill>
                <a:latin typeface="Times New Roman" panose="02020603050405020304" pitchFamily="18" charset="0"/>
                <a:cs typeface="Times New Roman" panose="02020603050405020304" pitchFamily="18" charset="0"/>
              </a:rPr>
              <a:t>RESULTS</a:t>
            </a:r>
            <a:endParaRPr lang="en-US" sz="2800" dirty="0">
              <a:solidFill>
                <a:srgbClr val="7030A0"/>
              </a:solidFill>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BC158FD5-E359-502F-46FA-4FAFDB21A57F}"/>
              </a:ext>
            </a:extLst>
          </p:cNvPr>
          <p:cNvPicPr>
            <a:picLocks noGrp="1" noChangeAspect="1"/>
          </p:cNvPicPr>
          <p:nvPr>
            <p:ph idx="1"/>
          </p:nvPr>
        </p:nvPicPr>
        <p:blipFill>
          <a:blip r:embed="rId2"/>
          <a:stretch>
            <a:fillRect/>
          </a:stretch>
        </p:blipFill>
        <p:spPr>
          <a:xfrm>
            <a:off x="1295400" y="1447800"/>
            <a:ext cx="7315200" cy="5633720"/>
          </a:xfrm>
          <a:prstGeom prst="rect">
            <a:avLst/>
          </a:prstGeom>
        </p:spPr>
      </p:pic>
    </p:spTree>
    <p:extLst>
      <p:ext uri="{BB962C8B-B14F-4D97-AF65-F5344CB8AC3E}">
        <p14:creationId xmlns:p14="http://schemas.microsoft.com/office/powerpoint/2010/main" val="23250031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5351D68-D734-E7BB-015C-45B8E4B45BEA}"/>
              </a:ext>
            </a:extLst>
          </p:cNvPr>
          <p:cNvPicPr>
            <a:picLocks noChangeAspect="1"/>
          </p:cNvPicPr>
          <p:nvPr/>
        </p:nvPicPr>
        <p:blipFill>
          <a:blip r:embed="rId2"/>
          <a:stretch>
            <a:fillRect/>
          </a:stretch>
        </p:blipFill>
        <p:spPr>
          <a:xfrm>
            <a:off x="990600" y="609600"/>
            <a:ext cx="8382000" cy="3029373"/>
          </a:xfrm>
          <a:prstGeom prst="rect">
            <a:avLst/>
          </a:prstGeom>
        </p:spPr>
      </p:pic>
      <p:pic>
        <p:nvPicPr>
          <p:cNvPr id="5" name="Picture 4">
            <a:extLst>
              <a:ext uri="{FF2B5EF4-FFF2-40B4-BE49-F238E27FC236}">
                <a16:creationId xmlns:a16="http://schemas.microsoft.com/office/drawing/2014/main" id="{FF41C162-170F-C229-C86D-4B7960A567BA}"/>
              </a:ext>
            </a:extLst>
          </p:cNvPr>
          <p:cNvPicPr>
            <a:picLocks noChangeAspect="1"/>
          </p:cNvPicPr>
          <p:nvPr/>
        </p:nvPicPr>
        <p:blipFill>
          <a:blip r:embed="rId3"/>
          <a:stretch>
            <a:fillRect/>
          </a:stretch>
        </p:blipFill>
        <p:spPr>
          <a:xfrm>
            <a:off x="1066800" y="3638973"/>
            <a:ext cx="8153400" cy="3447627"/>
          </a:xfrm>
          <a:prstGeom prst="rect">
            <a:avLst/>
          </a:prstGeom>
        </p:spPr>
      </p:pic>
    </p:spTree>
    <p:extLst>
      <p:ext uri="{BB962C8B-B14F-4D97-AF65-F5344CB8AC3E}">
        <p14:creationId xmlns:p14="http://schemas.microsoft.com/office/powerpoint/2010/main" val="27528865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3D6C1D1-DB0E-81B4-7914-D15F0A523548}"/>
              </a:ext>
            </a:extLst>
          </p:cNvPr>
          <p:cNvPicPr>
            <a:picLocks noChangeAspect="1"/>
          </p:cNvPicPr>
          <p:nvPr/>
        </p:nvPicPr>
        <p:blipFill>
          <a:blip r:embed="rId2"/>
          <a:stretch>
            <a:fillRect/>
          </a:stretch>
        </p:blipFill>
        <p:spPr>
          <a:xfrm>
            <a:off x="1040379" y="533400"/>
            <a:ext cx="7977642" cy="3352800"/>
          </a:xfrm>
          <a:prstGeom prst="rect">
            <a:avLst/>
          </a:prstGeom>
        </p:spPr>
      </p:pic>
      <p:pic>
        <p:nvPicPr>
          <p:cNvPr id="7" name="Picture 6">
            <a:extLst>
              <a:ext uri="{FF2B5EF4-FFF2-40B4-BE49-F238E27FC236}">
                <a16:creationId xmlns:a16="http://schemas.microsoft.com/office/drawing/2014/main" id="{90E28273-CBDD-6BA3-BADF-7B9E37C3E068}"/>
              </a:ext>
            </a:extLst>
          </p:cNvPr>
          <p:cNvPicPr>
            <a:picLocks noChangeAspect="1"/>
          </p:cNvPicPr>
          <p:nvPr/>
        </p:nvPicPr>
        <p:blipFill>
          <a:blip r:embed="rId3"/>
          <a:stretch>
            <a:fillRect/>
          </a:stretch>
        </p:blipFill>
        <p:spPr>
          <a:xfrm>
            <a:off x="762000" y="3733800"/>
            <a:ext cx="8610599" cy="3696269"/>
          </a:xfrm>
          <a:prstGeom prst="rect">
            <a:avLst/>
          </a:prstGeom>
        </p:spPr>
      </p:pic>
    </p:spTree>
    <p:extLst>
      <p:ext uri="{BB962C8B-B14F-4D97-AF65-F5344CB8AC3E}">
        <p14:creationId xmlns:p14="http://schemas.microsoft.com/office/powerpoint/2010/main" val="2480085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3C2881E-2DF1-7510-02C1-A52C58512069}"/>
              </a:ext>
            </a:extLst>
          </p:cNvPr>
          <p:cNvPicPr>
            <a:picLocks noChangeAspect="1"/>
          </p:cNvPicPr>
          <p:nvPr/>
        </p:nvPicPr>
        <p:blipFill>
          <a:blip r:embed="rId2"/>
          <a:stretch>
            <a:fillRect/>
          </a:stretch>
        </p:blipFill>
        <p:spPr>
          <a:xfrm>
            <a:off x="990600" y="381000"/>
            <a:ext cx="8610600" cy="6705600"/>
          </a:xfrm>
          <a:prstGeom prst="rect">
            <a:avLst/>
          </a:prstGeom>
        </p:spPr>
      </p:pic>
    </p:spTree>
    <p:extLst>
      <p:ext uri="{BB962C8B-B14F-4D97-AF65-F5344CB8AC3E}">
        <p14:creationId xmlns:p14="http://schemas.microsoft.com/office/powerpoint/2010/main" val="23466956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32A4C8C-22F5-E81E-57E4-CCE9F0EDDDF0}"/>
              </a:ext>
            </a:extLst>
          </p:cNvPr>
          <p:cNvPicPr>
            <a:picLocks noChangeAspect="1"/>
          </p:cNvPicPr>
          <p:nvPr/>
        </p:nvPicPr>
        <p:blipFill>
          <a:blip r:embed="rId2"/>
          <a:stretch>
            <a:fillRect/>
          </a:stretch>
        </p:blipFill>
        <p:spPr>
          <a:xfrm>
            <a:off x="1143000" y="1295400"/>
            <a:ext cx="8229600" cy="5453366"/>
          </a:xfrm>
          <a:prstGeom prst="rect">
            <a:avLst/>
          </a:prstGeom>
        </p:spPr>
      </p:pic>
    </p:spTree>
    <p:extLst>
      <p:ext uri="{BB962C8B-B14F-4D97-AF65-F5344CB8AC3E}">
        <p14:creationId xmlns:p14="http://schemas.microsoft.com/office/powerpoint/2010/main" val="10241952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8C3DF29-386B-F42A-39DE-695BFE540155}"/>
              </a:ext>
            </a:extLst>
          </p:cNvPr>
          <p:cNvPicPr>
            <a:picLocks noChangeAspect="1"/>
          </p:cNvPicPr>
          <p:nvPr/>
        </p:nvPicPr>
        <p:blipFill>
          <a:blip r:embed="rId2"/>
          <a:stretch>
            <a:fillRect/>
          </a:stretch>
        </p:blipFill>
        <p:spPr>
          <a:xfrm>
            <a:off x="1600200" y="1638178"/>
            <a:ext cx="7315199" cy="4496044"/>
          </a:xfrm>
          <a:prstGeom prst="rect">
            <a:avLst/>
          </a:prstGeom>
        </p:spPr>
      </p:pic>
    </p:spTree>
    <p:extLst>
      <p:ext uri="{BB962C8B-B14F-4D97-AF65-F5344CB8AC3E}">
        <p14:creationId xmlns:p14="http://schemas.microsoft.com/office/powerpoint/2010/main" val="7133360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A1A5763-BFF1-5473-2451-FAF7C8719732}"/>
              </a:ext>
            </a:extLst>
          </p:cNvPr>
          <p:cNvPicPr>
            <a:picLocks noChangeAspect="1"/>
          </p:cNvPicPr>
          <p:nvPr/>
        </p:nvPicPr>
        <p:blipFill>
          <a:blip r:embed="rId2"/>
          <a:stretch>
            <a:fillRect/>
          </a:stretch>
        </p:blipFill>
        <p:spPr>
          <a:xfrm>
            <a:off x="990600" y="647248"/>
            <a:ext cx="8229600" cy="6477904"/>
          </a:xfrm>
          <a:prstGeom prst="rect">
            <a:avLst/>
          </a:prstGeom>
        </p:spPr>
      </p:pic>
    </p:spTree>
    <p:extLst>
      <p:ext uri="{BB962C8B-B14F-4D97-AF65-F5344CB8AC3E}">
        <p14:creationId xmlns:p14="http://schemas.microsoft.com/office/powerpoint/2010/main" val="16678252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BB967-95CA-9DFA-D2D1-F06A981DC5BD}"/>
              </a:ext>
            </a:extLst>
          </p:cNvPr>
          <p:cNvSpPr>
            <a:spLocks noGrp="1"/>
          </p:cNvSpPr>
          <p:nvPr>
            <p:ph type="title"/>
          </p:nvPr>
        </p:nvSpPr>
        <p:spPr>
          <a:xfrm>
            <a:off x="2362200" y="152400"/>
            <a:ext cx="8147304" cy="1694688"/>
          </a:xfrm>
        </p:spPr>
        <p:txBody>
          <a:bodyPr>
            <a:normAutofit/>
          </a:bodyPr>
          <a:lstStyle/>
          <a:p>
            <a:r>
              <a:rPr lang="en-IN" sz="2800" b="1" spc="-10" dirty="0">
                <a:solidFill>
                  <a:srgbClr val="7030A0"/>
                </a:solidFill>
                <a:latin typeface="Times New Roman" panose="02020603050405020304" pitchFamily="18" charset="0"/>
                <a:cs typeface="Times New Roman" panose="02020603050405020304" pitchFamily="18" charset="0"/>
              </a:rPr>
              <a:t>Conclusion &amp; Future Enhancement</a:t>
            </a:r>
            <a:br>
              <a:rPr lang="en-IN" sz="2800" b="1" spc="-10" dirty="0">
                <a:solidFill>
                  <a:srgbClr val="7030A0"/>
                </a:solidFill>
                <a:latin typeface="Times New Roman" panose="02020603050405020304" pitchFamily="18" charset="0"/>
                <a:cs typeface="Times New Roman" panose="02020603050405020304" pitchFamily="18" charset="0"/>
              </a:rPr>
            </a:br>
            <a:endParaRPr lang="en-US" sz="2800" dirty="0">
              <a:solidFill>
                <a:srgbClr val="7030A0"/>
              </a:solidFill>
            </a:endParaRPr>
          </a:p>
        </p:txBody>
      </p:sp>
      <p:sp>
        <p:nvSpPr>
          <p:cNvPr id="3" name="Content Placeholder 2">
            <a:extLst>
              <a:ext uri="{FF2B5EF4-FFF2-40B4-BE49-F238E27FC236}">
                <a16:creationId xmlns:a16="http://schemas.microsoft.com/office/drawing/2014/main" id="{CEEFA327-D2A3-59F9-FA47-4396E245ACB5}"/>
              </a:ext>
            </a:extLst>
          </p:cNvPr>
          <p:cNvSpPr>
            <a:spLocks noGrp="1"/>
          </p:cNvSpPr>
          <p:nvPr>
            <p:ph idx="1"/>
          </p:nvPr>
        </p:nvSpPr>
        <p:spPr>
          <a:xfrm>
            <a:off x="956641" y="1295400"/>
            <a:ext cx="8145118" cy="5537200"/>
          </a:xfrm>
        </p:spPr>
        <p:txBody>
          <a:bodyPr>
            <a:normAutofit/>
          </a:bodyPr>
          <a:lstStyle/>
          <a:p>
            <a:pPr marL="37719" indent="0" algn="just">
              <a:lnSpc>
                <a:spcPct val="150000"/>
              </a:lnSpc>
              <a:buNone/>
            </a:pPr>
            <a:r>
              <a:rPr lang="en-US" sz="1800" dirty="0">
                <a:solidFill>
                  <a:schemeClr val="tx1"/>
                </a:solidFill>
                <a:latin typeface="Times New Roman" panose="02020603050405020304" pitchFamily="18" charset="0"/>
                <a:cs typeface="Times New Roman" panose="02020603050405020304" pitchFamily="18" charset="0"/>
              </a:rPr>
              <a:t>This study created a fast and accurate system to understand people’s opinions on the Russia-Ukraine war using Twitter data. It performs much better than traditional methods and handles issues like unbalanced data effectively. The results show that most people express negative or neutral feelings about the war. Overall, this system is useful for tracking public opinion in real time, and it can be improved further by adding support for more languages and different types of data in the future</a:t>
            </a:r>
            <a:r>
              <a:rPr lang="en-US" sz="1800" dirty="0"/>
              <a:t>.</a:t>
            </a:r>
          </a:p>
          <a:p>
            <a:pPr marL="37719" indent="0" algn="just">
              <a:lnSpc>
                <a:spcPct val="150000"/>
              </a:lnSpc>
              <a:buNone/>
            </a:pPr>
            <a:r>
              <a:rPr lang="en-US" sz="1800" dirty="0">
                <a:solidFill>
                  <a:schemeClr val="tx1"/>
                </a:solidFill>
                <a:latin typeface="Times New Roman" panose="02020603050405020304" pitchFamily="18" charset="0"/>
                <a:cs typeface="Times New Roman" panose="02020603050405020304" pitchFamily="18" charset="0"/>
              </a:rPr>
              <a:t>Future work will extend the framework to multilingual sentiment analysis, incorporate temporal dynamics for tracking opinion shifts, and integrate multimodal data (images/videos) to enhance contextual understanding and predictive accuracy.</a:t>
            </a:r>
          </a:p>
          <a:p>
            <a:pPr marL="37719" indent="0" algn="just">
              <a:lnSpc>
                <a:spcPct val="150000"/>
              </a:lnSpc>
              <a:buNone/>
            </a:pPr>
            <a:endParaRPr lang="en-US" sz="18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862553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9AE59-E731-82E2-DB53-35C0FB14A1A3}"/>
              </a:ext>
            </a:extLst>
          </p:cNvPr>
          <p:cNvSpPr>
            <a:spLocks noGrp="1"/>
          </p:cNvSpPr>
          <p:nvPr>
            <p:ph type="title"/>
          </p:nvPr>
        </p:nvSpPr>
        <p:spPr>
          <a:xfrm>
            <a:off x="3733800" y="533400"/>
            <a:ext cx="8147304" cy="1537208"/>
          </a:xfrm>
        </p:spPr>
        <p:txBody>
          <a:bodyPr/>
          <a:lstStyle/>
          <a:p>
            <a:r>
              <a:rPr lang="en-IN" sz="2800" b="1" dirty="0">
                <a:solidFill>
                  <a:srgbClr val="7030A0"/>
                </a:solidFill>
                <a:latin typeface="Times New Roman" panose="02020603050405020304" pitchFamily="18" charset="0"/>
                <a:cs typeface="Times New Roman" panose="02020603050405020304" pitchFamily="18" charset="0"/>
              </a:rPr>
              <a:t>References</a:t>
            </a:r>
            <a:br>
              <a:rPr lang="en-US" dirty="0">
                <a:solidFill>
                  <a:srgbClr val="7030A0"/>
                </a:solidFill>
              </a:rPr>
            </a:br>
            <a:endParaRPr lang="en-US" dirty="0">
              <a:solidFill>
                <a:srgbClr val="7030A0"/>
              </a:solidFill>
            </a:endParaRPr>
          </a:p>
        </p:txBody>
      </p:sp>
      <p:sp>
        <p:nvSpPr>
          <p:cNvPr id="5" name="Rectangle 2">
            <a:extLst>
              <a:ext uri="{FF2B5EF4-FFF2-40B4-BE49-F238E27FC236}">
                <a16:creationId xmlns:a16="http://schemas.microsoft.com/office/drawing/2014/main" id="{3A0C0025-83BE-72CF-EEB5-B291559F1476}"/>
              </a:ext>
            </a:extLst>
          </p:cNvPr>
          <p:cNvSpPr>
            <a:spLocks noGrp="1" noChangeArrowheads="1"/>
          </p:cNvSpPr>
          <p:nvPr>
            <p:ph idx="1"/>
          </p:nvPr>
        </p:nvSpPr>
        <p:spPr bwMode="auto">
          <a:xfrm>
            <a:off x="723899" y="1531709"/>
            <a:ext cx="8610601"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Liu, Y.; Wang, S.; Yu, S. </a:t>
            </a:r>
            <a:r>
              <a:rPr kumimoji="0" lang="en-US" altLang="en-US" sz="20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Bullet Screen Sentiment Analysis Method That Integrates the Sentiment Lexicon with </a:t>
            </a:r>
            <a:r>
              <a:rPr kumimoji="0" lang="en-US" altLang="en-US" sz="2000" b="0" i="1"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RoBERTa</a:t>
            </a:r>
            <a:r>
              <a:rPr kumimoji="0" lang="en-US" altLang="en-US" sz="20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-CNN.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Electronics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2024, 13, 3984.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hlinkClick r:id="rId2"/>
              </a:rPr>
              <a:t>https://doi.org/10.3390/electronics13203984</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Pratibha; Kaur, A.; Khurana, M.;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Damaševičius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 </a:t>
            </a:r>
            <a:r>
              <a:rPr kumimoji="0" lang="en-US" altLang="en-US" sz="20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Multimodal Hinglish Tweet Dataset for Deep Pragmatic Analysis.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2024, 9, 38.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hlinkClick r:id="rId3"/>
              </a:rPr>
              <a:t>https://doi.org/10.3390/data9020038</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Wang, Z.; Li, L.; He, K.; Zhu, Z. </a:t>
            </a:r>
            <a:r>
              <a:rPr kumimoji="0" lang="en-US" altLang="en-US" sz="20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Profile Construction Based on High-Dimensional Features Extracted by Stacking Ensemble Learning.</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Applied Sciences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2025, 15, 1224.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hlinkClick r:id="rId4"/>
              </a:rPr>
              <a:t>https://doi.org/10.3390/app15031224</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Simionescu, M. </a:t>
            </a:r>
            <a:r>
              <a:rPr kumimoji="0" lang="en-US" altLang="en-US" sz="20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Machine Learning vs. Econometric Models to Forecast Inflation Rate in Romania? The Role of Sentiment Analysis.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Mathematics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2025, 13, 168.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hlinkClick r:id="rId5"/>
              </a:rPr>
              <a:t>https://doi.org/10.3390/math13010168</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478522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B40754-87FF-483D-3092-A12CF5F6B448}"/>
              </a:ext>
            </a:extLst>
          </p:cNvPr>
          <p:cNvSpPr>
            <a:spLocks noGrp="1"/>
          </p:cNvSpPr>
          <p:nvPr>
            <p:ph type="title"/>
          </p:nvPr>
        </p:nvSpPr>
        <p:spPr>
          <a:xfrm>
            <a:off x="3352800" y="457200"/>
            <a:ext cx="8147304" cy="1613408"/>
          </a:xfrm>
        </p:spPr>
        <p:txBody>
          <a:bodyPr/>
          <a:lstStyle/>
          <a:p>
            <a:r>
              <a:rPr lang="en-IN" sz="2800" b="1" spc="-10" dirty="0">
                <a:solidFill>
                  <a:srgbClr val="7030A0"/>
                </a:solidFill>
                <a:latin typeface="Times New Roman" panose="02020603050405020304" pitchFamily="18" charset="0"/>
                <a:cs typeface="Times New Roman" panose="02020603050405020304" pitchFamily="18" charset="0"/>
              </a:rPr>
              <a:t>GitHub Link</a:t>
            </a:r>
            <a:br>
              <a:rPr lang="en-IN" b="1" dirty="0">
                <a:solidFill>
                  <a:srgbClr val="7030A0"/>
                </a:solidFill>
                <a:latin typeface="Times New Roman" panose="02020603050405020304" pitchFamily="18" charset="0"/>
                <a:cs typeface="Times New Roman" panose="02020603050405020304" pitchFamily="18" charset="0"/>
              </a:rPr>
            </a:br>
            <a:endParaRPr lang="en-US" dirty="0">
              <a:solidFill>
                <a:srgbClr val="7030A0"/>
              </a:solidFill>
            </a:endParaRPr>
          </a:p>
        </p:txBody>
      </p:sp>
      <p:sp>
        <p:nvSpPr>
          <p:cNvPr id="3" name="Content Placeholder 2">
            <a:extLst>
              <a:ext uri="{FF2B5EF4-FFF2-40B4-BE49-F238E27FC236}">
                <a16:creationId xmlns:a16="http://schemas.microsoft.com/office/drawing/2014/main" id="{F0F31ABC-4C37-ECC2-C48F-9A99E3415B1A}"/>
              </a:ext>
            </a:extLst>
          </p:cNvPr>
          <p:cNvSpPr>
            <a:spLocks noGrp="1"/>
          </p:cNvSpPr>
          <p:nvPr>
            <p:ph idx="1"/>
          </p:nvPr>
        </p:nvSpPr>
        <p:spPr>
          <a:xfrm>
            <a:off x="1323474" y="1759618"/>
            <a:ext cx="7764621" cy="5149181"/>
          </a:xfrm>
        </p:spPr>
        <p:txBody>
          <a:bodyPr/>
          <a:lstStyle/>
          <a:p>
            <a:r>
              <a:rPr lang="en-US" b="1" dirty="0">
                <a:solidFill>
                  <a:schemeClr val="tx1"/>
                </a:solidFill>
                <a:latin typeface="Times New Roman" panose="02020603050405020304" pitchFamily="18" charset="0"/>
                <a:cs typeface="Times New Roman" panose="02020603050405020304" pitchFamily="18" charset="0"/>
              </a:rPr>
              <a:t>https://github.com/PRANEETHAGUNJARI/MAJOR-PROJECT</a:t>
            </a:r>
          </a:p>
          <a:p>
            <a:endParaRPr lang="en-US" dirty="0"/>
          </a:p>
        </p:txBody>
      </p:sp>
    </p:spTree>
    <p:extLst>
      <p:ext uri="{BB962C8B-B14F-4D97-AF65-F5344CB8AC3E}">
        <p14:creationId xmlns:p14="http://schemas.microsoft.com/office/powerpoint/2010/main" val="1139978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CD36588-54D2-B38F-E5C9-04B95441353B}"/>
              </a:ext>
            </a:extLst>
          </p:cNvPr>
          <p:cNvPicPr>
            <a:picLocks noGrp="1" noChangeAspect="1"/>
          </p:cNvPicPr>
          <p:nvPr>
            <p:ph idx="1"/>
          </p:nvPr>
        </p:nvPicPr>
        <p:blipFill>
          <a:blip r:embed="rId2"/>
          <a:stretch>
            <a:fillRect/>
          </a:stretch>
        </p:blipFill>
        <p:spPr>
          <a:xfrm>
            <a:off x="2480907" y="2438400"/>
            <a:ext cx="5096586" cy="2305372"/>
          </a:xfrm>
          <a:prstGeom prst="rect">
            <a:avLst/>
          </a:prstGeom>
        </p:spPr>
      </p:pic>
    </p:spTree>
    <p:extLst>
      <p:ext uri="{BB962C8B-B14F-4D97-AF65-F5344CB8AC3E}">
        <p14:creationId xmlns:p14="http://schemas.microsoft.com/office/powerpoint/2010/main" val="2749607131"/>
      </p:ext>
    </p:extLst>
  </p:cSld>
  <p:clrMapOvr>
    <a:masterClrMapping/>
  </p:clrMapOvr>
</p:sld>
</file>

<file path=ppt/theme/theme1.xml><?xml version="1.0" encoding="utf-8"?>
<a:theme xmlns:a="http://schemas.openxmlformats.org/drawingml/2006/main" name="Basis">
  <a:themeElements>
    <a:clrScheme name="Pa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Basis">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sis">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D9D01AC2-EE7D-4E49-99EE-8E62E4E7E8A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TM03457444[[fn=Basis]]</Template>
  <TotalTime>544</TotalTime>
  <Words>1369</Words>
  <Application>Microsoft Office PowerPoint</Application>
  <PresentationFormat>Custom</PresentationFormat>
  <Paragraphs>165</Paragraphs>
  <Slides>30</Slides>
  <Notes>2</Notes>
  <HiddenSlides>0</HiddenSlides>
  <MMClips>0</MMClips>
  <ScaleCrop>false</ScaleCrop>
  <HeadingPairs>
    <vt:vector size="4" baseType="variant">
      <vt:variant>
        <vt:lpstr>Theme</vt:lpstr>
      </vt:variant>
      <vt:variant>
        <vt:i4>1</vt:i4>
      </vt:variant>
      <vt:variant>
        <vt:lpstr>Slide Titles</vt:lpstr>
      </vt:variant>
      <vt:variant>
        <vt:i4>30</vt:i4>
      </vt:variant>
    </vt:vector>
  </HeadingPairs>
  <TitlesOfParts>
    <vt:vector size="31" baseType="lpstr">
      <vt:lpstr>Basis</vt:lpstr>
      <vt:lpstr>PowerPoint Presentation</vt:lpstr>
      <vt:lpstr>CONTENTS</vt:lpstr>
      <vt:lpstr>INTRODUCTION &amp; OVERVIEW</vt:lpstr>
      <vt:lpstr>EXISTING SYSTEM</vt:lpstr>
      <vt:lpstr>DISADVANTAGES OF EXISTING SYSTEM </vt:lpstr>
      <vt:lpstr>PROPOSED SYSTEM</vt:lpstr>
      <vt:lpstr>ADVANTAGES OF PROPOSED SYSTEM</vt:lpstr>
      <vt:lpstr>PowerPoint Presentation</vt:lpstr>
      <vt:lpstr>NOVELTY OF THE PROJECT</vt:lpstr>
      <vt:lpstr>                     ARCHITECTURE</vt:lpstr>
      <vt:lpstr>                             MODULES</vt:lpstr>
      <vt:lpstr>PowerPoint Presentation</vt:lpstr>
      <vt:lpstr>PowerPoint Presentation</vt:lpstr>
      <vt:lpstr>UML DIAGRAMS</vt:lpstr>
      <vt:lpstr>PowerPoint Presentation</vt:lpstr>
      <vt:lpstr>PowerPoint Presentation</vt:lpstr>
      <vt:lpstr>PowerPoint Presentation</vt:lpstr>
      <vt:lpstr>SOURCE CODE </vt:lpstr>
      <vt:lpstr>PowerPoint Presentation</vt:lpstr>
      <vt:lpstr>RESULTS</vt:lpstr>
      <vt:lpstr>PowerPoint Presentation</vt:lpstr>
      <vt:lpstr>PowerPoint Presentation</vt:lpstr>
      <vt:lpstr>PowerPoint Presentation</vt:lpstr>
      <vt:lpstr>PowerPoint Presentation</vt:lpstr>
      <vt:lpstr>PowerPoint Presentation</vt:lpstr>
      <vt:lpstr>PowerPoint Presentation</vt:lpstr>
      <vt:lpstr>Conclusion &amp; Future Enhancement </vt:lpstr>
      <vt:lpstr>References </vt:lpstr>
      <vt:lpstr>GitHub Link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Microsoft PowerPoint - PPT-2 (major project)</dc:title>
  <dc:creator>Vinay bathini</dc:creator>
  <cp:lastModifiedBy>919390882954</cp:lastModifiedBy>
  <cp:revision>22</cp:revision>
  <dcterms:created xsi:type="dcterms:W3CDTF">2025-03-11T04:33:00Z</dcterms:created>
  <dcterms:modified xsi:type="dcterms:W3CDTF">2026-03-22T13:51:16Z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2025-02-19T05:30:00Z</vt:filetime>
  </property>
  <property fmtid="{D5CDD505-2E9C-101B-9397-08002B2CF9AE}" pid="3" name="LastSaved">
    <vt:filetime>2025-03-11T05:30:00Z</vt:filetime>
  </property>
  <property fmtid="{D5CDD505-2E9C-101B-9397-08002B2CF9AE}" pid="4" name="Producer">
    <vt:lpwstr>Microsoft: Print To PDF</vt:lpwstr>
  </property>
  <property fmtid="{D5CDD505-2E9C-101B-9397-08002B2CF9AE}" pid="5" name="ICV">
    <vt:lpwstr>E536D8D21C05433D872294F340C524B1_12</vt:lpwstr>
  </property>
  <property fmtid="{D5CDD505-2E9C-101B-9397-08002B2CF9AE}" pid="6" name="KSOProductBuildVer">
    <vt:lpwstr>1033-12.2.0.20326</vt:lpwstr>
  </property>
</Properties>
</file>